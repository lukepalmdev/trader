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5151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TRACKER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0" y="347472"/>
            <a:ext cx="1005840" cy="155448"/>
          </a:xfrm>
          <a:prstGeom prst="rect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94960" y="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332720" y="91440"/>
            <a:ext cx="1554480" cy="32004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0" y="91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Mar 2026  ↻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502920"/>
            <a:ext cx="12188952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" y="841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011680" y="594360"/>
            <a:ext cx="0" cy="45720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40280" y="841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931920" y="594360"/>
            <a:ext cx="0" cy="45720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60520" y="841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852160" y="594360"/>
            <a:ext cx="0" cy="45720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€ 142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80760" y="841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USED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772400" y="594360"/>
            <a:ext cx="0" cy="45720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€ 289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01000" y="841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NEW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9692640" y="594360"/>
            <a:ext cx="0" cy="45720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212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€ 79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21240" y="841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PRICE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74320" y="1261872"/>
            <a:ext cx="2103120" cy="256032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1312164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12618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GameLife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15184" y="1261872"/>
            <a:ext cx="2103120" cy="256032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88336" y="1312164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43784" y="12618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GameShock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956048" y="1261872"/>
            <a:ext cx="2103120" cy="256032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1312164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84648" y="12618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GamePeople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296912" y="1261872"/>
            <a:ext cx="2103120" cy="256032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70064" y="1312164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25512" y="12618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637776" y="1261872"/>
            <a:ext cx="2103120" cy="256032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10928" y="1312164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66376" y="12618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CEX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01168" y="1664208"/>
            <a:ext cx="2212848" cy="4846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1168" y="1664208"/>
            <a:ext cx="2212848" cy="365760"/>
          </a:xfrm>
          <a:prstGeom prst="rect">
            <a:avLst/>
          </a:prstGeom>
          <a:solidFill>
            <a:srgbClr val="181818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" y="166420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EEE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GameLife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01168" y="2029968"/>
            <a:ext cx="2212848" cy="2286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2029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1664208" y="2029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201168" y="2258568"/>
            <a:ext cx="2212848" cy="0"/>
          </a:xfrm>
          <a:prstGeom prst="line">
            <a:avLst/>
          </a:prstGeom>
          <a:noFill/>
          <a:ln w="12700">
            <a:solidFill>
              <a:srgbClr val="1E1E1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1168" y="2286000"/>
            <a:ext cx="2212848" cy="8046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23225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X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74320" y="2615184"/>
            <a:ext cx="530352" cy="1828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261518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1435608" y="23408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€ 449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2212848" y="283464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1168" y="309067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01168" y="3108960"/>
            <a:ext cx="2212848" cy="804672"/>
          </a:xfrm>
          <a:prstGeom prst="rect">
            <a:avLst/>
          </a:prstGeom>
          <a:solidFill>
            <a:srgbClr val="131313"/>
          </a:solidFill>
          <a:ln w="12700">
            <a:solidFill>
              <a:srgbClr val="13131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3145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4320" y="3438144"/>
            <a:ext cx="530352" cy="1828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343814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1435608" y="31638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€ 249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2212848" y="365760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01168" y="391363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01168" y="3931920"/>
            <a:ext cx="2212848" cy="8046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3968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X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74320" y="4261104"/>
            <a:ext cx="530352" cy="182880"/>
          </a:xfrm>
          <a:prstGeom prst="rect">
            <a:avLst/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26110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1435608" y="39867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€ 299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2212848" y="448056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01168" y="473659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01168" y="4754880"/>
            <a:ext cx="2212848" cy="804672"/>
          </a:xfrm>
          <a:prstGeom prst="rect">
            <a:avLst/>
          </a:prstGeom>
          <a:solidFill>
            <a:srgbClr val="131313"/>
          </a:solidFill>
          <a:ln w="12700">
            <a:solidFill>
              <a:srgbClr val="13131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7914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One X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74320" y="5084064"/>
            <a:ext cx="530352" cy="182880"/>
          </a:xfrm>
          <a:prstGeom prst="rect">
            <a:avLst/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4320" y="50840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1435608" y="480974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€ 149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2212848" y="5303520"/>
            <a:ext cx="118872" cy="118872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01168" y="555955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01168" y="5577840"/>
            <a:ext cx="2212848" cy="8046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5614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360 Slim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74320" y="5907024"/>
            <a:ext cx="530352" cy="182880"/>
          </a:xfrm>
          <a:prstGeom prst="rect">
            <a:avLst/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4320" y="59070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1435608" y="56327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€ 79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2212848" y="612648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01168" y="638251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42032" y="1664208"/>
            <a:ext cx="2212848" cy="4846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542032" y="1664208"/>
            <a:ext cx="2212848" cy="365760"/>
          </a:xfrm>
          <a:prstGeom prst="rect">
            <a:avLst/>
          </a:prstGeom>
          <a:solidFill>
            <a:srgbClr val="181818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633472" y="166420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EEE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GameShock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542032" y="2029968"/>
            <a:ext cx="2212848" cy="2286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615184" y="2029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</a:t>
            </a:r>
            <a:endParaRPr lang="en-US" sz="600" dirty="0"/>
          </a:p>
        </p:txBody>
      </p:sp>
      <p:sp>
        <p:nvSpPr>
          <p:cNvPr id="89" name="Text 87"/>
          <p:cNvSpPr/>
          <p:nvPr/>
        </p:nvSpPr>
        <p:spPr>
          <a:xfrm>
            <a:off x="4005072" y="2029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2542032" y="2258568"/>
            <a:ext cx="2212848" cy="0"/>
          </a:xfrm>
          <a:prstGeom prst="line">
            <a:avLst/>
          </a:prstGeom>
          <a:noFill/>
          <a:ln w="12700">
            <a:solidFill>
              <a:srgbClr val="1E1E1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542032" y="2286000"/>
            <a:ext cx="2212848" cy="8046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615184" y="23225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X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2615184" y="2615184"/>
            <a:ext cx="530352" cy="1828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615184" y="261518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3776472" y="23408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€ 449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4553712" y="283464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542032" y="309067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542032" y="3108960"/>
            <a:ext cx="2212848" cy="804672"/>
          </a:xfrm>
          <a:prstGeom prst="rect">
            <a:avLst/>
          </a:prstGeom>
          <a:solidFill>
            <a:srgbClr val="131313"/>
          </a:solidFill>
          <a:ln w="12700">
            <a:solidFill>
              <a:srgbClr val="13131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615184" y="3145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S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2615184" y="3438144"/>
            <a:ext cx="530352" cy="1828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615184" y="343814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650" dirty="0"/>
          </a:p>
        </p:txBody>
      </p:sp>
      <p:sp>
        <p:nvSpPr>
          <p:cNvPr id="102" name="Text 100"/>
          <p:cNvSpPr/>
          <p:nvPr/>
        </p:nvSpPr>
        <p:spPr>
          <a:xfrm>
            <a:off x="3776472" y="31638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€ 249</a:t>
            </a:r>
            <a:endParaRPr lang="en-US" sz="1400" dirty="0"/>
          </a:p>
        </p:txBody>
      </p:sp>
      <p:sp>
        <p:nvSpPr>
          <p:cNvPr id="103" name="Shape 101"/>
          <p:cNvSpPr/>
          <p:nvPr/>
        </p:nvSpPr>
        <p:spPr>
          <a:xfrm>
            <a:off x="4553712" y="365760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42032" y="391363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542032" y="3931920"/>
            <a:ext cx="2212848" cy="8046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615184" y="3968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X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2615184" y="4261104"/>
            <a:ext cx="530352" cy="182880"/>
          </a:xfrm>
          <a:prstGeom prst="rect">
            <a:avLst/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615184" y="426110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3776472" y="39867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€ 299</a:t>
            </a:r>
            <a:endParaRPr lang="en-US" sz="1400" dirty="0"/>
          </a:p>
        </p:txBody>
      </p:sp>
      <p:sp>
        <p:nvSpPr>
          <p:cNvPr id="110" name="Shape 108"/>
          <p:cNvSpPr/>
          <p:nvPr/>
        </p:nvSpPr>
        <p:spPr>
          <a:xfrm>
            <a:off x="4553712" y="448056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542032" y="473659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542032" y="4754880"/>
            <a:ext cx="2212848" cy="804672"/>
          </a:xfrm>
          <a:prstGeom prst="rect">
            <a:avLst/>
          </a:prstGeom>
          <a:solidFill>
            <a:srgbClr val="131313"/>
          </a:solidFill>
          <a:ln w="12700">
            <a:solidFill>
              <a:srgbClr val="131313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615184" y="47914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One X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2615184" y="5084064"/>
            <a:ext cx="530352" cy="182880"/>
          </a:xfrm>
          <a:prstGeom prst="rect">
            <a:avLst/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615184" y="50840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3776472" y="480974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€ 149</a:t>
            </a:r>
            <a:endParaRPr lang="en-US" sz="1400" dirty="0"/>
          </a:p>
        </p:txBody>
      </p:sp>
      <p:sp>
        <p:nvSpPr>
          <p:cNvPr id="117" name="Shape 115"/>
          <p:cNvSpPr/>
          <p:nvPr/>
        </p:nvSpPr>
        <p:spPr>
          <a:xfrm>
            <a:off x="4553712" y="5303520"/>
            <a:ext cx="118872" cy="118872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542032" y="555955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542032" y="5577840"/>
            <a:ext cx="2212848" cy="8046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615184" y="5614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360 Slim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2615184" y="5907024"/>
            <a:ext cx="530352" cy="182880"/>
          </a:xfrm>
          <a:prstGeom prst="rect">
            <a:avLst/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615184" y="59070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650" dirty="0"/>
          </a:p>
        </p:txBody>
      </p:sp>
      <p:sp>
        <p:nvSpPr>
          <p:cNvPr id="123" name="Text 121"/>
          <p:cNvSpPr/>
          <p:nvPr/>
        </p:nvSpPr>
        <p:spPr>
          <a:xfrm>
            <a:off x="3776472" y="56327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€ 79</a:t>
            </a:r>
            <a:endParaRPr lang="en-US" sz="1400" dirty="0"/>
          </a:p>
        </p:txBody>
      </p:sp>
      <p:sp>
        <p:nvSpPr>
          <p:cNvPr id="124" name="Shape 122"/>
          <p:cNvSpPr/>
          <p:nvPr/>
        </p:nvSpPr>
        <p:spPr>
          <a:xfrm>
            <a:off x="4553712" y="612648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542032" y="638251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882896" y="1664208"/>
            <a:ext cx="2212848" cy="4846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882896" y="1664208"/>
            <a:ext cx="2212848" cy="365760"/>
          </a:xfrm>
          <a:prstGeom prst="rect">
            <a:avLst/>
          </a:prstGeom>
          <a:solidFill>
            <a:srgbClr val="181818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974336" y="166420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EEE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GamePeople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4882896" y="2029968"/>
            <a:ext cx="2212848" cy="2286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956048" y="2029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6345936" y="2029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</a:t>
            </a:r>
            <a:endParaRPr lang="en-US" sz="600" dirty="0"/>
          </a:p>
        </p:txBody>
      </p:sp>
      <p:sp>
        <p:nvSpPr>
          <p:cNvPr id="132" name="Shape 130"/>
          <p:cNvSpPr/>
          <p:nvPr/>
        </p:nvSpPr>
        <p:spPr>
          <a:xfrm>
            <a:off x="4882896" y="2258568"/>
            <a:ext cx="2212848" cy="0"/>
          </a:xfrm>
          <a:prstGeom prst="line">
            <a:avLst/>
          </a:prstGeom>
          <a:noFill/>
          <a:ln w="12700">
            <a:solidFill>
              <a:srgbClr val="1E1E1E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882896" y="2286000"/>
            <a:ext cx="2212848" cy="8046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56048" y="23225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X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4956048" y="2615184"/>
            <a:ext cx="530352" cy="1828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956048" y="261518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650" dirty="0"/>
          </a:p>
        </p:txBody>
      </p:sp>
      <p:sp>
        <p:nvSpPr>
          <p:cNvPr id="137" name="Text 135"/>
          <p:cNvSpPr/>
          <p:nvPr/>
        </p:nvSpPr>
        <p:spPr>
          <a:xfrm>
            <a:off x="6117336" y="23408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€ 449</a:t>
            </a:r>
            <a:endParaRPr lang="en-US" sz="1400" dirty="0"/>
          </a:p>
        </p:txBody>
      </p:sp>
      <p:sp>
        <p:nvSpPr>
          <p:cNvPr id="138" name="Shape 136"/>
          <p:cNvSpPr/>
          <p:nvPr/>
        </p:nvSpPr>
        <p:spPr>
          <a:xfrm>
            <a:off x="6894576" y="283464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82896" y="309067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82896" y="3108960"/>
            <a:ext cx="2212848" cy="804672"/>
          </a:xfrm>
          <a:prstGeom prst="rect">
            <a:avLst/>
          </a:prstGeom>
          <a:solidFill>
            <a:srgbClr val="131313"/>
          </a:solidFill>
          <a:ln w="12700">
            <a:solidFill>
              <a:srgbClr val="131313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956048" y="3145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S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4956048" y="3438144"/>
            <a:ext cx="530352" cy="1828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956048" y="343814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6117336" y="31638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€ 249</a:t>
            </a:r>
            <a:endParaRPr lang="en-US" sz="1400" dirty="0"/>
          </a:p>
        </p:txBody>
      </p:sp>
      <p:sp>
        <p:nvSpPr>
          <p:cNvPr id="145" name="Shape 143"/>
          <p:cNvSpPr/>
          <p:nvPr/>
        </p:nvSpPr>
        <p:spPr>
          <a:xfrm>
            <a:off x="6894576" y="365760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882896" y="391363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882896" y="3931920"/>
            <a:ext cx="2212848" cy="8046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4956048" y="3968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X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4956048" y="4261104"/>
            <a:ext cx="530352" cy="182880"/>
          </a:xfrm>
          <a:prstGeom prst="rect">
            <a:avLst/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956048" y="426110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650" dirty="0"/>
          </a:p>
        </p:txBody>
      </p:sp>
      <p:sp>
        <p:nvSpPr>
          <p:cNvPr id="151" name="Text 149"/>
          <p:cNvSpPr/>
          <p:nvPr/>
        </p:nvSpPr>
        <p:spPr>
          <a:xfrm>
            <a:off x="6117336" y="39867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€ 299</a:t>
            </a:r>
            <a:endParaRPr lang="en-US" sz="1400" dirty="0"/>
          </a:p>
        </p:txBody>
      </p:sp>
      <p:sp>
        <p:nvSpPr>
          <p:cNvPr id="152" name="Shape 150"/>
          <p:cNvSpPr/>
          <p:nvPr/>
        </p:nvSpPr>
        <p:spPr>
          <a:xfrm>
            <a:off x="6894576" y="448056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882896" y="473659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882896" y="4754880"/>
            <a:ext cx="2212848" cy="804672"/>
          </a:xfrm>
          <a:prstGeom prst="rect">
            <a:avLst/>
          </a:prstGeom>
          <a:solidFill>
            <a:srgbClr val="131313"/>
          </a:solidFill>
          <a:ln w="12700">
            <a:solidFill>
              <a:srgbClr val="131313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956048" y="47914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One X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4956048" y="5084064"/>
            <a:ext cx="530352" cy="182880"/>
          </a:xfrm>
          <a:prstGeom prst="rect">
            <a:avLst/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956048" y="50840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650" dirty="0"/>
          </a:p>
        </p:txBody>
      </p:sp>
      <p:sp>
        <p:nvSpPr>
          <p:cNvPr id="158" name="Text 156"/>
          <p:cNvSpPr/>
          <p:nvPr/>
        </p:nvSpPr>
        <p:spPr>
          <a:xfrm>
            <a:off x="6117336" y="480974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€ 149</a:t>
            </a:r>
            <a:endParaRPr lang="en-US" sz="1400" dirty="0"/>
          </a:p>
        </p:txBody>
      </p:sp>
      <p:sp>
        <p:nvSpPr>
          <p:cNvPr id="159" name="Shape 157"/>
          <p:cNvSpPr/>
          <p:nvPr/>
        </p:nvSpPr>
        <p:spPr>
          <a:xfrm>
            <a:off x="6894576" y="5303520"/>
            <a:ext cx="118872" cy="118872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882896" y="555955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882896" y="5577840"/>
            <a:ext cx="2212848" cy="8046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956048" y="5614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360 Slim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4956048" y="5907024"/>
            <a:ext cx="530352" cy="182880"/>
          </a:xfrm>
          <a:prstGeom prst="rect">
            <a:avLst/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4956048" y="59070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650" dirty="0"/>
          </a:p>
        </p:txBody>
      </p:sp>
      <p:sp>
        <p:nvSpPr>
          <p:cNvPr id="165" name="Text 163"/>
          <p:cNvSpPr/>
          <p:nvPr/>
        </p:nvSpPr>
        <p:spPr>
          <a:xfrm>
            <a:off x="6117336" y="56327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€ 79</a:t>
            </a:r>
            <a:endParaRPr lang="en-US" sz="1400" dirty="0"/>
          </a:p>
        </p:txBody>
      </p:sp>
      <p:sp>
        <p:nvSpPr>
          <p:cNvPr id="166" name="Shape 164"/>
          <p:cNvSpPr/>
          <p:nvPr/>
        </p:nvSpPr>
        <p:spPr>
          <a:xfrm>
            <a:off x="6894576" y="612648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882896" y="638251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223760" y="1664208"/>
            <a:ext cx="2212848" cy="4846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223760" y="1664208"/>
            <a:ext cx="2212848" cy="365760"/>
          </a:xfrm>
          <a:prstGeom prst="rect">
            <a:avLst/>
          </a:prstGeom>
          <a:solidFill>
            <a:srgbClr val="181818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7315200" y="166420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EEE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ReBuy</a:t>
            </a:r>
            <a:endParaRPr lang="en-US" sz="950" dirty="0"/>
          </a:p>
        </p:txBody>
      </p:sp>
      <p:sp>
        <p:nvSpPr>
          <p:cNvPr id="171" name="Shape 169"/>
          <p:cNvSpPr/>
          <p:nvPr/>
        </p:nvSpPr>
        <p:spPr>
          <a:xfrm>
            <a:off x="7223760" y="2029968"/>
            <a:ext cx="2212848" cy="2286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7296912" y="2029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</a:t>
            </a:r>
            <a:endParaRPr lang="en-US" sz="600" dirty="0"/>
          </a:p>
        </p:txBody>
      </p:sp>
      <p:sp>
        <p:nvSpPr>
          <p:cNvPr id="173" name="Text 171"/>
          <p:cNvSpPr/>
          <p:nvPr/>
        </p:nvSpPr>
        <p:spPr>
          <a:xfrm>
            <a:off x="8686800" y="2029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</a:t>
            </a:r>
            <a:endParaRPr lang="en-US" sz="600" dirty="0"/>
          </a:p>
        </p:txBody>
      </p:sp>
      <p:sp>
        <p:nvSpPr>
          <p:cNvPr id="174" name="Shape 172"/>
          <p:cNvSpPr/>
          <p:nvPr/>
        </p:nvSpPr>
        <p:spPr>
          <a:xfrm>
            <a:off x="7223760" y="2258568"/>
            <a:ext cx="2212848" cy="0"/>
          </a:xfrm>
          <a:prstGeom prst="line">
            <a:avLst/>
          </a:prstGeom>
          <a:noFill/>
          <a:ln w="12700">
            <a:solidFill>
              <a:srgbClr val="1E1E1E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223760" y="2286000"/>
            <a:ext cx="2212848" cy="8046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7296912" y="23225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X</a:t>
            </a:r>
            <a:endParaRPr lang="en-US" sz="800" dirty="0"/>
          </a:p>
        </p:txBody>
      </p:sp>
      <p:sp>
        <p:nvSpPr>
          <p:cNvPr id="177" name="Shape 175"/>
          <p:cNvSpPr/>
          <p:nvPr/>
        </p:nvSpPr>
        <p:spPr>
          <a:xfrm>
            <a:off x="7296912" y="2615184"/>
            <a:ext cx="530352" cy="1828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7296912" y="261518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650" dirty="0"/>
          </a:p>
        </p:txBody>
      </p:sp>
      <p:sp>
        <p:nvSpPr>
          <p:cNvPr id="179" name="Text 177"/>
          <p:cNvSpPr/>
          <p:nvPr/>
        </p:nvSpPr>
        <p:spPr>
          <a:xfrm>
            <a:off x="8458200" y="23408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€ 449</a:t>
            </a:r>
            <a:endParaRPr lang="en-US" sz="1400" dirty="0"/>
          </a:p>
        </p:txBody>
      </p:sp>
      <p:sp>
        <p:nvSpPr>
          <p:cNvPr id="180" name="Shape 178"/>
          <p:cNvSpPr/>
          <p:nvPr/>
        </p:nvSpPr>
        <p:spPr>
          <a:xfrm>
            <a:off x="9235440" y="283464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223760" y="309067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223760" y="3108960"/>
            <a:ext cx="2212848" cy="804672"/>
          </a:xfrm>
          <a:prstGeom prst="rect">
            <a:avLst/>
          </a:prstGeom>
          <a:solidFill>
            <a:srgbClr val="131313"/>
          </a:solidFill>
          <a:ln w="12700">
            <a:solidFill>
              <a:srgbClr val="131313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7296912" y="3145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S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7296912" y="3438144"/>
            <a:ext cx="530352" cy="1828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7296912" y="343814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650" dirty="0"/>
          </a:p>
        </p:txBody>
      </p:sp>
      <p:sp>
        <p:nvSpPr>
          <p:cNvPr id="186" name="Text 184"/>
          <p:cNvSpPr/>
          <p:nvPr/>
        </p:nvSpPr>
        <p:spPr>
          <a:xfrm>
            <a:off x="8458200" y="31638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€ 249</a:t>
            </a:r>
            <a:endParaRPr lang="en-US" sz="1400" dirty="0"/>
          </a:p>
        </p:txBody>
      </p:sp>
      <p:sp>
        <p:nvSpPr>
          <p:cNvPr id="187" name="Shape 185"/>
          <p:cNvSpPr/>
          <p:nvPr/>
        </p:nvSpPr>
        <p:spPr>
          <a:xfrm>
            <a:off x="9235440" y="365760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223760" y="391363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223760" y="3931920"/>
            <a:ext cx="2212848" cy="8046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7296912" y="3968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X</a:t>
            </a:r>
            <a:endParaRPr lang="en-US" sz="800" dirty="0"/>
          </a:p>
        </p:txBody>
      </p:sp>
      <p:sp>
        <p:nvSpPr>
          <p:cNvPr id="191" name="Shape 189"/>
          <p:cNvSpPr/>
          <p:nvPr/>
        </p:nvSpPr>
        <p:spPr>
          <a:xfrm>
            <a:off x="7296912" y="4261104"/>
            <a:ext cx="530352" cy="182880"/>
          </a:xfrm>
          <a:prstGeom prst="rect">
            <a:avLst/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7296912" y="426110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650" dirty="0"/>
          </a:p>
        </p:txBody>
      </p:sp>
      <p:sp>
        <p:nvSpPr>
          <p:cNvPr id="193" name="Text 191"/>
          <p:cNvSpPr/>
          <p:nvPr/>
        </p:nvSpPr>
        <p:spPr>
          <a:xfrm>
            <a:off x="8458200" y="39867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€ 299</a:t>
            </a:r>
            <a:endParaRPr lang="en-US" sz="1400" dirty="0"/>
          </a:p>
        </p:txBody>
      </p:sp>
      <p:sp>
        <p:nvSpPr>
          <p:cNvPr id="194" name="Shape 192"/>
          <p:cNvSpPr/>
          <p:nvPr/>
        </p:nvSpPr>
        <p:spPr>
          <a:xfrm>
            <a:off x="9235440" y="448056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223760" y="473659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223760" y="4754880"/>
            <a:ext cx="2212848" cy="804672"/>
          </a:xfrm>
          <a:prstGeom prst="rect">
            <a:avLst/>
          </a:prstGeom>
          <a:solidFill>
            <a:srgbClr val="131313"/>
          </a:solidFill>
          <a:ln w="12700">
            <a:solidFill>
              <a:srgbClr val="131313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7296912" y="47914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One X</a:t>
            </a:r>
            <a:endParaRPr lang="en-US" sz="800" dirty="0"/>
          </a:p>
        </p:txBody>
      </p:sp>
      <p:sp>
        <p:nvSpPr>
          <p:cNvPr id="198" name="Shape 196"/>
          <p:cNvSpPr/>
          <p:nvPr/>
        </p:nvSpPr>
        <p:spPr>
          <a:xfrm>
            <a:off x="7296912" y="5084064"/>
            <a:ext cx="530352" cy="182880"/>
          </a:xfrm>
          <a:prstGeom prst="rect">
            <a:avLst/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7296912" y="50840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650" dirty="0"/>
          </a:p>
        </p:txBody>
      </p:sp>
      <p:sp>
        <p:nvSpPr>
          <p:cNvPr id="200" name="Text 198"/>
          <p:cNvSpPr/>
          <p:nvPr/>
        </p:nvSpPr>
        <p:spPr>
          <a:xfrm>
            <a:off x="8458200" y="480974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€ 149</a:t>
            </a:r>
            <a:endParaRPr lang="en-US" sz="1400" dirty="0"/>
          </a:p>
        </p:txBody>
      </p:sp>
      <p:sp>
        <p:nvSpPr>
          <p:cNvPr id="201" name="Shape 199"/>
          <p:cNvSpPr/>
          <p:nvPr/>
        </p:nvSpPr>
        <p:spPr>
          <a:xfrm>
            <a:off x="9235440" y="5303520"/>
            <a:ext cx="118872" cy="118872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223760" y="555955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223760" y="5577840"/>
            <a:ext cx="2212848" cy="8046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7296912" y="5614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360 Slim</a:t>
            </a:r>
            <a:endParaRPr lang="en-US" sz="800" dirty="0"/>
          </a:p>
        </p:txBody>
      </p:sp>
      <p:sp>
        <p:nvSpPr>
          <p:cNvPr id="205" name="Shape 203"/>
          <p:cNvSpPr/>
          <p:nvPr/>
        </p:nvSpPr>
        <p:spPr>
          <a:xfrm>
            <a:off x="7296912" y="5907024"/>
            <a:ext cx="530352" cy="182880"/>
          </a:xfrm>
          <a:prstGeom prst="rect">
            <a:avLst/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7296912" y="59070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650" dirty="0"/>
          </a:p>
        </p:txBody>
      </p:sp>
      <p:sp>
        <p:nvSpPr>
          <p:cNvPr id="207" name="Text 205"/>
          <p:cNvSpPr/>
          <p:nvPr/>
        </p:nvSpPr>
        <p:spPr>
          <a:xfrm>
            <a:off x="8458200" y="56327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€ 79</a:t>
            </a:r>
            <a:endParaRPr lang="en-US" sz="1400" dirty="0"/>
          </a:p>
        </p:txBody>
      </p:sp>
      <p:sp>
        <p:nvSpPr>
          <p:cNvPr id="208" name="Shape 206"/>
          <p:cNvSpPr/>
          <p:nvPr/>
        </p:nvSpPr>
        <p:spPr>
          <a:xfrm>
            <a:off x="9235440" y="612648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223760" y="638251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564624" y="1664208"/>
            <a:ext cx="2212848" cy="4846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564624" y="1664208"/>
            <a:ext cx="2212848" cy="365760"/>
          </a:xfrm>
          <a:prstGeom prst="rect">
            <a:avLst/>
          </a:prstGeom>
          <a:solidFill>
            <a:srgbClr val="181818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9656064" y="166420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EEE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CEX</a:t>
            </a:r>
            <a:endParaRPr lang="en-US" sz="950" dirty="0"/>
          </a:p>
        </p:txBody>
      </p:sp>
      <p:sp>
        <p:nvSpPr>
          <p:cNvPr id="213" name="Shape 211"/>
          <p:cNvSpPr/>
          <p:nvPr/>
        </p:nvSpPr>
        <p:spPr>
          <a:xfrm>
            <a:off x="9564624" y="2029968"/>
            <a:ext cx="2212848" cy="2286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9637776" y="2029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</a:t>
            </a:r>
            <a:endParaRPr lang="en-US" sz="600" dirty="0"/>
          </a:p>
        </p:txBody>
      </p:sp>
      <p:sp>
        <p:nvSpPr>
          <p:cNvPr id="215" name="Text 213"/>
          <p:cNvSpPr/>
          <p:nvPr/>
        </p:nvSpPr>
        <p:spPr>
          <a:xfrm>
            <a:off x="11027664" y="2029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</a:t>
            </a:r>
            <a:endParaRPr lang="en-US" sz="600" dirty="0"/>
          </a:p>
        </p:txBody>
      </p:sp>
      <p:sp>
        <p:nvSpPr>
          <p:cNvPr id="216" name="Shape 214"/>
          <p:cNvSpPr/>
          <p:nvPr/>
        </p:nvSpPr>
        <p:spPr>
          <a:xfrm>
            <a:off x="9564624" y="2258568"/>
            <a:ext cx="2212848" cy="0"/>
          </a:xfrm>
          <a:prstGeom prst="line">
            <a:avLst/>
          </a:prstGeom>
          <a:noFill/>
          <a:ln w="12700">
            <a:solidFill>
              <a:srgbClr val="1E1E1E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9564624" y="2286000"/>
            <a:ext cx="2212848" cy="8046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9637776" y="23225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X</a:t>
            </a:r>
            <a:endParaRPr lang="en-US" sz="800" dirty="0"/>
          </a:p>
        </p:txBody>
      </p:sp>
      <p:sp>
        <p:nvSpPr>
          <p:cNvPr id="219" name="Shape 217"/>
          <p:cNvSpPr/>
          <p:nvPr/>
        </p:nvSpPr>
        <p:spPr>
          <a:xfrm>
            <a:off x="9637776" y="2615184"/>
            <a:ext cx="530352" cy="1828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9637776" y="261518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650" dirty="0"/>
          </a:p>
        </p:txBody>
      </p:sp>
      <p:sp>
        <p:nvSpPr>
          <p:cNvPr id="221" name="Text 219"/>
          <p:cNvSpPr/>
          <p:nvPr/>
        </p:nvSpPr>
        <p:spPr>
          <a:xfrm>
            <a:off x="10799064" y="23408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€ 449</a:t>
            </a:r>
            <a:endParaRPr lang="en-US" sz="1400" dirty="0"/>
          </a:p>
        </p:txBody>
      </p:sp>
      <p:sp>
        <p:nvSpPr>
          <p:cNvPr id="222" name="Shape 220"/>
          <p:cNvSpPr/>
          <p:nvPr/>
        </p:nvSpPr>
        <p:spPr>
          <a:xfrm>
            <a:off x="11576304" y="283464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9564624" y="309067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9564624" y="3108960"/>
            <a:ext cx="2212848" cy="804672"/>
          </a:xfrm>
          <a:prstGeom prst="rect">
            <a:avLst/>
          </a:prstGeom>
          <a:solidFill>
            <a:srgbClr val="131313"/>
          </a:solidFill>
          <a:ln w="12700">
            <a:solidFill>
              <a:srgbClr val="131313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9637776" y="3145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S</a:t>
            </a:r>
            <a:endParaRPr lang="en-US" sz="800" dirty="0"/>
          </a:p>
        </p:txBody>
      </p:sp>
      <p:sp>
        <p:nvSpPr>
          <p:cNvPr id="226" name="Shape 224"/>
          <p:cNvSpPr/>
          <p:nvPr/>
        </p:nvSpPr>
        <p:spPr>
          <a:xfrm>
            <a:off x="9637776" y="3438144"/>
            <a:ext cx="530352" cy="1828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9637776" y="343814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650" dirty="0"/>
          </a:p>
        </p:txBody>
      </p:sp>
      <p:sp>
        <p:nvSpPr>
          <p:cNvPr id="228" name="Text 226"/>
          <p:cNvSpPr/>
          <p:nvPr/>
        </p:nvSpPr>
        <p:spPr>
          <a:xfrm>
            <a:off x="10799064" y="31638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€ 249</a:t>
            </a:r>
            <a:endParaRPr lang="en-US" sz="1400" dirty="0"/>
          </a:p>
        </p:txBody>
      </p:sp>
      <p:sp>
        <p:nvSpPr>
          <p:cNvPr id="229" name="Shape 227"/>
          <p:cNvSpPr/>
          <p:nvPr/>
        </p:nvSpPr>
        <p:spPr>
          <a:xfrm>
            <a:off x="11576304" y="365760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564624" y="391363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564624" y="3931920"/>
            <a:ext cx="2212848" cy="8046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9637776" y="3968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X</a:t>
            </a:r>
            <a:endParaRPr lang="en-US" sz="800" dirty="0"/>
          </a:p>
        </p:txBody>
      </p:sp>
      <p:sp>
        <p:nvSpPr>
          <p:cNvPr id="233" name="Shape 231"/>
          <p:cNvSpPr/>
          <p:nvPr/>
        </p:nvSpPr>
        <p:spPr>
          <a:xfrm>
            <a:off x="9637776" y="4261104"/>
            <a:ext cx="530352" cy="182880"/>
          </a:xfrm>
          <a:prstGeom prst="rect">
            <a:avLst/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9637776" y="426110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650" dirty="0"/>
          </a:p>
        </p:txBody>
      </p:sp>
      <p:sp>
        <p:nvSpPr>
          <p:cNvPr id="235" name="Text 233"/>
          <p:cNvSpPr/>
          <p:nvPr/>
        </p:nvSpPr>
        <p:spPr>
          <a:xfrm>
            <a:off x="10799064" y="39867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€ 299</a:t>
            </a:r>
            <a:endParaRPr lang="en-US" sz="1400" dirty="0"/>
          </a:p>
        </p:txBody>
      </p:sp>
      <p:sp>
        <p:nvSpPr>
          <p:cNvPr id="236" name="Shape 234"/>
          <p:cNvSpPr/>
          <p:nvPr/>
        </p:nvSpPr>
        <p:spPr>
          <a:xfrm>
            <a:off x="11576304" y="448056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564624" y="473659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564624" y="4754880"/>
            <a:ext cx="2212848" cy="804672"/>
          </a:xfrm>
          <a:prstGeom prst="rect">
            <a:avLst/>
          </a:prstGeom>
          <a:solidFill>
            <a:srgbClr val="131313"/>
          </a:solidFill>
          <a:ln w="12700">
            <a:solidFill>
              <a:srgbClr val="131313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9637776" y="47914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One X</a:t>
            </a:r>
            <a:endParaRPr lang="en-US" sz="800" dirty="0"/>
          </a:p>
        </p:txBody>
      </p:sp>
      <p:sp>
        <p:nvSpPr>
          <p:cNvPr id="240" name="Shape 238"/>
          <p:cNvSpPr/>
          <p:nvPr/>
        </p:nvSpPr>
        <p:spPr>
          <a:xfrm>
            <a:off x="9637776" y="5084064"/>
            <a:ext cx="530352" cy="182880"/>
          </a:xfrm>
          <a:prstGeom prst="rect">
            <a:avLst/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9637776" y="50840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650" dirty="0"/>
          </a:p>
        </p:txBody>
      </p:sp>
      <p:sp>
        <p:nvSpPr>
          <p:cNvPr id="242" name="Text 240"/>
          <p:cNvSpPr/>
          <p:nvPr/>
        </p:nvSpPr>
        <p:spPr>
          <a:xfrm>
            <a:off x="10799064" y="480974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€ 149</a:t>
            </a:r>
            <a:endParaRPr lang="en-US" sz="1400" dirty="0"/>
          </a:p>
        </p:txBody>
      </p:sp>
      <p:sp>
        <p:nvSpPr>
          <p:cNvPr id="243" name="Shape 241"/>
          <p:cNvSpPr/>
          <p:nvPr/>
        </p:nvSpPr>
        <p:spPr>
          <a:xfrm>
            <a:off x="11576304" y="5303520"/>
            <a:ext cx="118872" cy="118872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564624" y="555955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564624" y="5577840"/>
            <a:ext cx="2212848" cy="8046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9637776" y="5614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360 Slim</a:t>
            </a:r>
            <a:endParaRPr lang="en-US" sz="800" dirty="0"/>
          </a:p>
        </p:txBody>
      </p:sp>
      <p:sp>
        <p:nvSpPr>
          <p:cNvPr id="247" name="Shape 245"/>
          <p:cNvSpPr/>
          <p:nvPr/>
        </p:nvSpPr>
        <p:spPr>
          <a:xfrm>
            <a:off x="9637776" y="5907024"/>
            <a:ext cx="530352" cy="182880"/>
          </a:xfrm>
          <a:prstGeom prst="rect">
            <a:avLst/>
          </a:prstGeom>
          <a:solidFill>
            <a:srgbClr val="2A2010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9637776" y="59070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650" dirty="0"/>
          </a:p>
        </p:txBody>
      </p:sp>
      <p:sp>
        <p:nvSpPr>
          <p:cNvPr id="249" name="Text 247"/>
          <p:cNvSpPr/>
          <p:nvPr/>
        </p:nvSpPr>
        <p:spPr>
          <a:xfrm>
            <a:off x="10799064" y="56327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€ 79</a:t>
            </a:r>
            <a:endParaRPr lang="en-US" sz="1400" dirty="0"/>
          </a:p>
        </p:txBody>
      </p:sp>
      <p:sp>
        <p:nvSpPr>
          <p:cNvPr id="250" name="Shape 248"/>
          <p:cNvSpPr/>
          <p:nvPr/>
        </p:nvSpPr>
        <p:spPr>
          <a:xfrm>
            <a:off x="11576304" y="6126480"/>
            <a:ext cx="118872" cy="118872"/>
          </a:xfrm>
          <a:prstGeom prst="ellipse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564624" y="6382512"/>
            <a:ext cx="221284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A0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COMPARE MODE — Select products across stores to compare</a:t>
            </a:r>
            <a:endParaRPr lang="en-US" sz="800" dirty="0"/>
          </a:p>
        </p:txBody>
      </p:sp>
      <p:sp>
        <p:nvSpPr>
          <p:cNvPr id="254" name="Shape 252"/>
          <p:cNvSpPr/>
          <p:nvPr/>
        </p:nvSpPr>
        <p:spPr>
          <a:xfrm>
            <a:off x="10515600" y="6547104"/>
            <a:ext cx="1371600" cy="256032"/>
          </a:xfrm>
          <a:prstGeom prst="rect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10515600" y="6547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</a:t>
            </a:r>
            <a:endParaRPr lang="en-US" sz="800" dirty="0"/>
          </a:p>
        </p:txBody>
      </p:sp>
      <p:sp>
        <p:nvSpPr>
          <p:cNvPr id="256" name="Text 254"/>
          <p:cNvSpPr/>
          <p:nvPr/>
        </p:nvSpPr>
        <p:spPr>
          <a:xfrm>
            <a:off x="274320" y="6720840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1A — Midnight Market  |  Wireframe Mockup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463040"/>
          </a:xfrm>
          <a:prstGeom prst="rect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MIDNIGHT MARKET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Luxury — Bloomberg Terminal × Apple Dark Mode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0" y="502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00FF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 PALETTE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777240" cy="777240"/>
          </a:xfrm>
          <a:prstGeom prst="rect">
            <a:avLst/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80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#0D0D0D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365760" y="3063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298448" y="2057400"/>
            <a:ext cx="777240" cy="777240"/>
          </a:xfrm>
          <a:prstGeom prst="rect">
            <a:avLst/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2880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#151515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298448" y="3063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231136" y="2057400"/>
            <a:ext cx="777240" cy="777240"/>
          </a:xfrm>
          <a:prstGeom prst="rect">
            <a:avLst/>
          </a:prstGeom>
          <a:solidFill>
            <a:srgbClr val="00FF87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31136" y="2880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#00FF87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231136" y="3063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163824" y="205740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63824" y="2880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163824" y="3063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096512" y="2057400"/>
            <a:ext cx="777240" cy="777240"/>
          </a:xfrm>
          <a:prstGeom prst="rect">
            <a:avLst/>
          </a:prstGeom>
          <a:solidFill>
            <a:srgbClr val="55555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96512" y="2880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#555555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096512" y="3063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 Text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029200" y="2057400"/>
            <a:ext cx="777240" cy="777240"/>
          </a:xfrm>
          <a:prstGeom prst="rect">
            <a:avLst/>
          </a:prstGeom>
          <a:solidFill>
            <a:srgbClr val="FFAA0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880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#FFAA00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5029200" y="3063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Badge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TYPOGRAPHY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749040"/>
            <a:ext cx="5029200" cy="137160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7947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€ 299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502920" y="44805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Trebuchet MS  ·  Hero Price Display  ·  38pt Bold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" y="47365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X  /  Usato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9743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Trebuchet MS  ·  Product Name  ·  10pt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49224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PRINCIPLES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92240" y="2057400"/>
            <a:ext cx="2697480" cy="132588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2057400"/>
            <a:ext cx="45720" cy="1325880"/>
          </a:xfrm>
          <a:prstGeom prst="rect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2167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as Hero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29400" y="2478024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the largest typographic element. Nothing competes. Users see value immediately at a glance.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372600" y="2057400"/>
            <a:ext cx="2697480" cy="132588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72600" y="2057400"/>
            <a:ext cx="45720" cy="1325880"/>
          </a:xfrm>
          <a:prstGeom prst="rect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09760" y="2167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Minimal Ink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509760" y="2478024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data that drives decisions is shown. Decorative elements are eliminated. Dark chrome recedes; numbers lead.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92240" y="3520440"/>
            <a:ext cx="2697480" cy="132588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92240" y="3520440"/>
            <a:ext cx="45720" cy="1325880"/>
          </a:xfrm>
          <a:prstGeom prst="rect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3630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Availability at a Glance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29400" y="3941064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green dots signal stock. Red/grey signal unavailability. No labels needed — color does the work.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372600" y="3520440"/>
            <a:ext cx="2697480" cy="132588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72600" y="3520440"/>
            <a:ext cx="45720" cy="1325880"/>
          </a:xfrm>
          <a:prstGeom prst="rect">
            <a:avLst/>
          </a:prstGeom>
          <a:solidFill>
            <a:srgbClr val="00FF87"/>
          </a:solidFill>
          <a:ln w="12700">
            <a:solidFill>
              <a:srgbClr val="00FF8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09760" y="3630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 Efficiency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509760" y="3941064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information at professional scale. Inspired by Bloomberg &amp; Linear: every pixel earns its place.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26480" y="1828800"/>
            <a:ext cx="0" cy="4572000"/>
          </a:xfrm>
          <a:prstGeom prst="line">
            <a:avLst/>
          </a:prstGeom>
          <a:noFill/>
          <a:ln w="12700">
            <a:solidFill>
              <a:srgbClr val="1E1E1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Tracker Redesign  ·  Concept 01  ·  Design Rationale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Tracker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114800" y="118872"/>
            <a:ext cx="2377440" cy="402336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33088" y="137160"/>
            <a:ext cx="117043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33088" y="1371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21808" y="13716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515600" y="164592"/>
            <a:ext cx="1463040" cy="310896"/>
          </a:xfrm>
          <a:prstGeom prst="rect">
            <a:avLst/>
          </a:prstGeom>
          <a:solidFill>
            <a:srgbClr val="F2F2F7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0" y="1645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Mar 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" y="777240"/>
            <a:ext cx="117317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1D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795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247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11887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76272" y="868680"/>
            <a:ext cx="0" cy="502920"/>
          </a:xfrm>
          <a:prstGeom prst="line">
            <a:avLst/>
          </a:prstGeom>
          <a:noFill/>
          <a:ln w="12700">
            <a:solidFill>
              <a:srgbClr val="D1D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795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189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450592" y="11887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078224" y="868680"/>
            <a:ext cx="0" cy="502920"/>
          </a:xfrm>
          <a:prstGeom prst="line">
            <a:avLst/>
          </a:prstGeom>
          <a:noFill/>
          <a:ln w="12700">
            <a:solidFill>
              <a:srgbClr val="D1D1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52544" y="795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52544" y="11887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868680"/>
            <a:ext cx="0" cy="502920"/>
          </a:xfrm>
          <a:prstGeom prst="line">
            <a:avLst/>
          </a:prstGeom>
          <a:noFill/>
          <a:ln w="12700">
            <a:solidFill>
              <a:srgbClr val="D1D1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795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€ 142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54496" y="11887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Used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882128" y="868680"/>
            <a:ext cx="0" cy="502920"/>
          </a:xfrm>
          <a:prstGeom prst="line">
            <a:avLst/>
          </a:prstGeom>
          <a:noFill/>
          <a:ln w="12700">
            <a:solidFill>
              <a:srgbClr val="D1D1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56448" y="795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€ 289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156448" y="11887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New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784080" y="868680"/>
            <a:ext cx="0" cy="502920"/>
          </a:xfrm>
          <a:prstGeom prst="line">
            <a:avLst/>
          </a:prstGeom>
          <a:noFill/>
          <a:ln w="12700">
            <a:solidFill>
              <a:srgbClr val="D1D1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795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€ 79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058400" y="11887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Price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" y="1719072"/>
            <a:ext cx="583387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1719072"/>
            <a:ext cx="5833872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1719072"/>
            <a:ext cx="45720" cy="4114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1719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GameLife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28032" y="1810512"/>
            <a:ext cx="1097280" cy="228600"/>
          </a:xfrm>
          <a:prstGeom prst="rect">
            <a:avLst/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1860804"/>
            <a:ext cx="91440" cy="9144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01768" y="1810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disponibili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28600" y="2130552"/>
            <a:ext cx="5833872" cy="237744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1305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429000" y="21305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00600" y="21305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28600" y="2368296"/>
            <a:ext cx="583387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4231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Series X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83280" y="2487168"/>
            <a:ext cx="731520" cy="201168"/>
          </a:xfrm>
          <a:prstGeom prst="rect">
            <a:avLst/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24871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526280" y="24048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€ 449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833872" y="2542032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2834640"/>
            <a:ext cx="5650992" cy="0"/>
          </a:xfrm>
          <a:prstGeom prst="line">
            <a:avLst/>
          </a:prstGeom>
          <a:noFill/>
          <a:ln w="12700">
            <a:solidFill>
              <a:srgbClr val="F2F2F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8600" y="2834640"/>
            <a:ext cx="5833872" cy="466344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288950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Series 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383280" y="2953512"/>
            <a:ext cx="731520" cy="201168"/>
          </a:xfrm>
          <a:prstGeom prst="rect">
            <a:avLst/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83280" y="29535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526280" y="28712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€ 249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833872" y="3008376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" y="3300984"/>
            <a:ext cx="5650992" cy="0"/>
          </a:xfrm>
          <a:prstGeom prst="line">
            <a:avLst/>
          </a:prstGeom>
          <a:noFill/>
          <a:ln w="12700">
            <a:solidFill>
              <a:srgbClr val="F2F2F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8600" y="3300984"/>
            <a:ext cx="583387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33558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One X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383280" y="3419856"/>
            <a:ext cx="73152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83280" y="34198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52628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€ 175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833872" y="3474720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55080" y="1719072"/>
            <a:ext cx="583387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355080" y="1719072"/>
            <a:ext cx="5833872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55080" y="1719072"/>
            <a:ext cx="45720" cy="4114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92240" y="1719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GameShock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0954512" y="1810512"/>
            <a:ext cx="1097280" cy="228600"/>
          </a:xfrm>
          <a:prstGeom prst="rect">
            <a:avLst/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018520" y="1860804"/>
            <a:ext cx="91440" cy="9144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128248" y="1810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disponibili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6355080" y="2130552"/>
            <a:ext cx="5833872" cy="237744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92240" y="21305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9555480" y="21305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Cond.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0927080" y="21305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355080" y="2368296"/>
            <a:ext cx="583387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92240" y="24231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Series X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9509760" y="2487168"/>
            <a:ext cx="73152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509760" y="24871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0652760" y="24048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€ 299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11960352" y="2542032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46520" y="2834640"/>
            <a:ext cx="5650992" cy="0"/>
          </a:xfrm>
          <a:prstGeom prst="line">
            <a:avLst/>
          </a:prstGeom>
          <a:noFill/>
          <a:ln w="12700">
            <a:solidFill>
              <a:srgbClr val="F2F2F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355080" y="2834640"/>
            <a:ext cx="5833872" cy="466344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92240" y="288950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One S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509760" y="2953512"/>
            <a:ext cx="73152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509760" y="29535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0652760" y="28712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€ 99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11960352" y="3008376"/>
            <a:ext cx="109728" cy="109728"/>
          </a:xfrm>
          <a:prstGeom prst="ellipse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446520" y="3300984"/>
            <a:ext cx="5650992" cy="0"/>
          </a:xfrm>
          <a:prstGeom prst="line">
            <a:avLst/>
          </a:prstGeom>
          <a:noFill/>
          <a:ln w="12700">
            <a:solidFill>
              <a:srgbClr val="F2F2F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55080" y="3300984"/>
            <a:ext cx="583387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92240" y="33558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360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9509760" y="3419856"/>
            <a:ext cx="73152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509760" y="34198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1065276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€ 49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11960352" y="3474720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28600" y="3959352"/>
            <a:ext cx="583387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228600" y="3959352"/>
            <a:ext cx="5833872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28600" y="3959352"/>
            <a:ext cx="45720" cy="4114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65760" y="39593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GamePeople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4828032" y="4050792"/>
            <a:ext cx="1097280" cy="228600"/>
          </a:xfrm>
          <a:prstGeom prst="rect">
            <a:avLst/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892040" y="4101084"/>
            <a:ext cx="91440" cy="9144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001768" y="40507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disponibili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228600" y="4370832"/>
            <a:ext cx="5833872" cy="237744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65760" y="43708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3429000" y="43708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Cond.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4800600" y="43708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228600" y="4608576"/>
            <a:ext cx="583387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65760" y="46634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Series X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3383280" y="4727448"/>
            <a:ext cx="731520" cy="201168"/>
          </a:xfrm>
          <a:prstGeom prst="rect">
            <a:avLst/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383280" y="47274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4526280" y="46451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€ 469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5833872" y="4782312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20040" y="5074920"/>
            <a:ext cx="5650992" cy="0"/>
          </a:xfrm>
          <a:prstGeom prst="line">
            <a:avLst/>
          </a:prstGeom>
          <a:noFill/>
          <a:ln w="12700">
            <a:solidFill>
              <a:srgbClr val="F2F2F7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28600" y="5074920"/>
            <a:ext cx="5833872" cy="466344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65760" y="51297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Series S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3383280" y="5193792"/>
            <a:ext cx="731520" cy="201168"/>
          </a:xfrm>
          <a:prstGeom prst="rect">
            <a:avLst/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383280" y="5193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4526280" y="51114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€ 259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5833872" y="5248656"/>
            <a:ext cx="109728" cy="109728"/>
          </a:xfrm>
          <a:prstGeom prst="ellipse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20040" y="5541264"/>
            <a:ext cx="5650992" cy="0"/>
          </a:xfrm>
          <a:prstGeom prst="line">
            <a:avLst/>
          </a:prstGeom>
          <a:noFill/>
          <a:ln w="12700">
            <a:solidFill>
              <a:srgbClr val="F2F2F7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28600" y="5541264"/>
            <a:ext cx="583387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65760" y="55961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One X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3383280" y="5660136"/>
            <a:ext cx="73152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383280" y="56601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4526280" y="5577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€ 189</a:t>
            </a:r>
            <a:endParaRPr lang="en-US" sz="1300" dirty="0"/>
          </a:p>
        </p:txBody>
      </p:sp>
      <p:sp>
        <p:nvSpPr>
          <p:cNvPr id="120" name="Shape 118"/>
          <p:cNvSpPr/>
          <p:nvPr/>
        </p:nvSpPr>
        <p:spPr>
          <a:xfrm>
            <a:off x="5833872" y="5715000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355080" y="3959352"/>
            <a:ext cx="583387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22" name="Shape 120"/>
          <p:cNvSpPr/>
          <p:nvPr/>
        </p:nvSpPr>
        <p:spPr>
          <a:xfrm>
            <a:off x="6355080" y="3959352"/>
            <a:ext cx="5833872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355080" y="3959352"/>
            <a:ext cx="45720" cy="4114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492240" y="39593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ReBuy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10954512" y="4050792"/>
            <a:ext cx="1097280" cy="228600"/>
          </a:xfrm>
          <a:prstGeom prst="rect">
            <a:avLst/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1018520" y="4101084"/>
            <a:ext cx="91440" cy="9144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1128248" y="40507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disponibili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6355080" y="4370832"/>
            <a:ext cx="5833872" cy="237744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492240" y="43708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9555480" y="43708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Cond.</a:t>
            </a:r>
            <a:endParaRPr lang="en-US" sz="750" dirty="0"/>
          </a:p>
        </p:txBody>
      </p:sp>
      <p:sp>
        <p:nvSpPr>
          <p:cNvPr id="131" name="Text 129"/>
          <p:cNvSpPr/>
          <p:nvPr/>
        </p:nvSpPr>
        <p:spPr>
          <a:xfrm>
            <a:off x="10927080" y="43708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6355080" y="4608576"/>
            <a:ext cx="583387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492240" y="46634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Series X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9509760" y="4727448"/>
            <a:ext cx="73152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509760" y="47274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10652760" y="46451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€ 279</a:t>
            </a:r>
            <a:endParaRPr lang="en-US" sz="1300" dirty="0"/>
          </a:p>
        </p:txBody>
      </p:sp>
      <p:sp>
        <p:nvSpPr>
          <p:cNvPr id="137" name="Shape 135"/>
          <p:cNvSpPr/>
          <p:nvPr/>
        </p:nvSpPr>
        <p:spPr>
          <a:xfrm>
            <a:off x="11960352" y="4782312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446520" y="5074920"/>
            <a:ext cx="5650992" cy="0"/>
          </a:xfrm>
          <a:prstGeom prst="line">
            <a:avLst/>
          </a:prstGeom>
          <a:noFill/>
          <a:ln w="12700">
            <a:solidFill>
              <a:srgbClr val="F2F2F7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355080" y="5074920"/>
            <a:ext cx="5833872" cy="466344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6492240" y="51297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One X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9509760" y="5193792"/>
            <a:ext cx="73152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509760" y="5193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10652760" y="51114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€ 159</a:t>
            </a:r>
            <a:endParaRPr lang="en-US" sz="1300" dirty="0"/>
          </a:p>
        </p:txBody>
      </p:sp>
      <p:sp>
        <p:nvSpPr>
          <p:cNvPr id="144" name="Shape 142"/>
          <p:cNvSpPr/>
          <p:nvPr/>
        </p:nvSpPr>
        <p:spPr>
          <a:xfrm>
            <a:off x="11960352" y="5248656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446520" y="5541264"/>
            <a:ext cx="5650992" cy="0"/>
          </a:xfrm>
          <a:prstGeom prst="line">
            <a:avLst/>
          </a:prstGeom>
          <a:noFill/>
          <a:ln w="12700">
            <a:solidFill>
              <a:srgbClr val="F2F2F7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355080" y="5541264"/>
            <a:ext cx="583387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492240" y="55961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360 Slim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9509760" y="5660136"/>
            <a:ext cx="73152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9509760" y="56601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10652760" y="5577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€ 79</a:t>
            </a:r>
            <a:endParaRPr lang="en-US" sz="1300" dirty="0"/>
          </a:p>
        </p:txBody>
      </p:sp>
      <p:sp>
        <p:nvSpPr>
          <p:cNvPr id="151" name="Shape 149"/>
          <p:cNvSpPr/>
          <p:nvPr/>
        </p:nvSpPr>
        <p:spPr>
          <a:xfrm>
            <a:off x="11960352" y="5715000"/>
            <a:ext cx="109728" cy="109728"/>
          </a:xfrm>
          <a:prstGeom prst="ellipse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28600" y="6199632"/>
            <a:ext cx="583387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53" name="Shape 151"/>
          <p:cNvSpPr/>
          <p:nvPr/>
        </p:nvSpPr>
        <p:spPr>
          <a:xfrm>
            <a:off x="228600" y="6199632"/>
            <a:ext cx="5833872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28600" y="6199632"/>
            <a:ext cx="45720" cy="41148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365760" y="6199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CEX</a:t>
            </a:r>
            <a:endParaRPr lang="en-US" sz="1100" dirty="0"/>
          </a:p>
        </p:txBody>
      </p:sp>
      <p:sp>
        <p:nvSpPr>
          <p:cNvPr id="156" name="Shape 154"/>
          <p:cNvSpPr/>
          <p:nvPr/>
        </p:nvSpPr>
        <p:spPr>
          <a:xfrm>
            <a:off x="4828032" y="6291072"/>
            <a:ext cx="1097280" cy="228600"/>
          </a:xfrm>
          <a:prstGeom prst="rect">
            <a:avLst/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892040" y="6341364"/>
            <a:ext cx="91440" cy="9144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5001768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disponibili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228600" y="6611112"/>
            <a:ext cx="5833872" cy="237744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65760" y="6611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</a:t>
            </a:r>
            <a:endParaRPr lang="en-US" sz="750" dirty="0"/>
          </a:p>
        </p:txBody>
      </p:sp>
      <p:sp>
        <p:nvSpPr>
          <p:cNvPr id="161" name="Text 159"/>
          <p:cNvSpPr/>
          <p:nvPr/>
        </p:nvSpPr>
        <p:spPr>
          <a:xfrm>
            <a:off x="3429000" y="66111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Cond.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4800600" y="66111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</a:t>
            </a:r>
            <a:endParaRPr lang="en-US" sz="750" dirty="0"/>
          </a:p>
        </p:txBody>
      </p:sp>
      <p:sp>
        <p:nvSpPr>
          <p:cNvPr id="163" name="Shape 161"/>
          <p:cNvSpPr/>
          <p:nvPr/>
        </p:nvSpPr>
        <p:spPr>
          <a:xfrm>
            <a:off x="228600" y="6848856"/>
            <a:ext cx="583387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365760" y="69037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Series S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3383280" y="6967728"/>
            <a:ext cx="731520" cy="201168"/>
          </a:xfrm>
          <a:prstGeom prst="rect">
            <a:avLst/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383280" y="69677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4526280" y="6885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€ 239</a:t>
            </a:r>
            <a:endParaRPr lang="en-US" sz="1300" dirty="0"/>
          </a:p>
        </p:txBody>
      </p:sp>
      <p:sp>
        <p:nvSpPr>
          <p:cNvPr id="168" name="Shape 166"/>
          <p:cNvSpPr/>
          <p:nvPr/>
        </p:nvSpPr>
        <p:spPr>
          <a:xfrm>
            <a:off x="5833872" y="7022592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20040" y="7315200"/>
            <a:ext cx="5650992" cy="0"/>
          </a:xfrm>
          <a:prstGeom prst="line">
            <a:avLst/>
          </a:prstGeom>
          <a:noFill/>
          <a:ln w="12700">
            <a:solidFill>
              <a:srgbClr val="F2F2F7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228600" y="7315200"/>
            <a:ext cx="5833872" cy="466344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365760" y="737006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One S</a:t>
            </a:r>
            <a:endParaRPr lang="en-US" sz="900" dirty="0"/>
          </a:p>
        </p:txBody>
      </p:sp>
      <p:sp>
        <p:nvSpPr>
          <p:cNvPr id="172" name="Shape 170"/>
          <p:cNvSpPr/>
          <p:nvPr/>
        </p:nvSpPr>
        <p:spPr>
          <a:xfrm>
            <a:off x="3383280" y="7434072"/>
            <a:ext cx="731520" cy="201168"/>
          </a:xfrm>
          <a:prstGeom prst="rect">
            <a:avLst/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3383280" y="74340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700" dirty="0"/>
          </a:p>
        </p:txBody>
      </p:sp>
      <p:sp>
        <p:nvSpPr>
          <p:cNvPr id="174" name="Text 172"/>
          <p:cNvSpPr/>
          <p:nvPr/>
        </p:nvSpPr>
        <p:spPr>
          <a:xfrm>
            <a:off x="4526280" y="73517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€ 129</a:t>
            </a:r>
            <a:endParaRPr lang="en-US" sz="1300" dirty="0"/>
          </a:p>
        </p:txBody>
      </p:sp>
      <p:sp>
        <p:nvSpPr>
          <p:cNvPr id="175" name="Shape 173"/>
          <p:cNvSpPr/>
          <p:nvPr/>
        </p:nvSpPr>
        <p:spPr>
          <a:xfrm>
            <a:off x="5833872" y="7488936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320040" y="7781544"/>
            <a:ext cx="5650992" cy="0"/>
          </a:xfrm>
          <a:prstGeom prst="line">
            <a:avLst/>
          </a:prstGeom>
          <a:noFill/>
          <a:ln w="12700">
            <a:solidFill>
              <a:srgbClr val="F2F2F7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28600" y="7781544"/>
            <a:ext cx="5833872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365760" y="78364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360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3383280" y="7900416"/>
            <a:ext cx="73152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383280" y="7900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181" name="Text 179"/>
          <p:cNvSpPr/>
          <p:nvPr/>
        </p:nvSpPr>
        <p:spPr>
          <a:xfrm>
            <a:off x="4526280" y="7818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€ 39</a:t>
            </a:r>
            <a:endParaRPr lang="en-US" sz="1300" dirty="0"/>
          </a:p>
        </p:txBody>
      </p:sp>
      <p:sp>
        <p:nvSpPr>
          <p:cNvPr id="182" name="Shape 180"/>
          <p:cNvSpPr/>
          <p:nvPr/>
        </p:nvSpPr>
        <p:spPr>
          <a:xfrm>
            <a:off x="5833872" y="7955280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74320" y="6720840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2A — Cupertino Card  |  Wireframe Mockup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CUPERTINO CARD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Light — Clean, Spatial, System-Native Design Language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0" y="548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007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 PALETTE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880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320040" y="3063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252728" y="2057400"/>
            <a:ext cx="777240" cy="777240"/>
          </a:xfrm>
          <a:prstGeom prst="rect">
            <a:avLst/>
          </a:prstGeom>
          <a:solidFill>
            <a:srgbClr val="F2F2F7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2728" y="2880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#F2F2F7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252728" y="3063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Surface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185416" y="2057400"/>
            <a:ext cx="777240" cy="777240"/>
          </a:xfrm>
          <a:prstGeom prst="rect">
            <a:avLst/>
          </a:prstGeom>
          <a:solidFill>
            <a:srgbClr val="007AFF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2880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#007AFF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185416" y="3063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Blue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118104" y="2057400"/>
            <a:ext cx="777240" cy="777240"/>
          </a:xfrm>
          <a:prstGeom prst="rect">
            <a:avLst/>
          </a:prstGeom>
          <a:solidFill>
            <a:srgbClr val="34C759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18104" y="2880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#34C759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118104" y="3063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050792" y="2057400"/>
            <a:ext cx="777240" cy="777240"/>
          </a:xfrm>
          <a:prstGeom prst="rect">
            <a:avLst/>
          </a:prstGeom>
          <a:solidFill>
            <a:srgbClr val="FF9500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50792" y="2880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#FF9500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050792" y="3063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Badge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983480" y="2057400"/>
            <a:ext cx="777240" cy="777240"/>
          </a:xfrm>
          <a:prstGeom prst="rect">
            <a:avLst/>
          </a:prstGeom>
          <a:solidFill>
            <a:srgbClr val="1C1C1E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880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#1C1C1E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983480" y="3063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2004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SCALE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749040"/>
            <a:ext cx="5303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€ 449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" y="41605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Price  ·  36pt Bold  ·  Trebuchet MS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7200" y="4306824"/>
            <a:ext cx="4754880" cy="0"/>
          </a:xfrm>
          <a:prstGeom prst="line">
            <a:avLst/>
          </a:prstGeom>
          <a:noFill/>
          <a:ln w="12700">
            <a:solidFill>
              <a:srgbClr val="F2F2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4074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X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47274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  ·  14pt Regular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57200" y="4873752"/>
            <a:ext cx="4754880" cy="0"/>
          </a:xfrm>
          <a:prstGeom prst="line">
            <a:avLst/>
          </a:prstGeom>
          <a:noFill/>
          <a:ln w="12700">
            <a:solidFill>
              <a:srgbClr val="F2F2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743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GameLife  ·  Store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529437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Header  ·  11pt Bold  ·  Blue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57200" y="5440680"/>
            <a:ext cx="4754880" cy="0"/>
          </a:xfrm>
          <a:prstGeom prst="line">
            <a:avLst/>
          </a:prstGeom>
          <a:noFill/>
          <a:ln w="12700">
            <a:solidFill>
              <a:srgbClr val="F2F2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5412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8E8E93  CAPTION TEXT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58613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 ·  8pt  ·  Gray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40080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8E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PRINCIPLES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0" y="205740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0800" y="2057400"/>
            <a:ext cx="2651760" cy="36576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2185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Spatial Layout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37960" y="249631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float on the grey background with subtle shadows. White surfaces create depth without complexity. Every element has room to breathe.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235440" y="205740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235440" y="2057400"/>
            <a:ext cx="2651760" cy="36576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72600" y="2185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 Accent System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372600" y="249631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Blue (#007AFF) is the single accent. CTAs, availability indicators, store headers. One color means one action, every time.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400800" y="352044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400800" y="3520440"/>
            <a:ext cx="2651760" cy="36576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37960" y="36484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Familiarity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537960" y="395935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controls, status badges, table patterns match iOS native components. Zero learning curve for Apple users — 60%+ of Italian mobile users.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235440" y="352044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9235440" y="3520440"/>
            <a:ext cx="2651760" cy="36576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72600" y="36484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Hierarchy by Weight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372600" y="395935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always the heaviest element. Product name is secondary. Condition and availability are tertiary badges. The eye follows naturally.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035040" y="1691640"/>
            <a:ext cx="0" cy="4663440"/>
          </a:xfrm>
          <a:prstGeom prst="line">
            <a:avLst/>
          </a:prstGeom>
          <a:noFill/>
          <a:ln w="12700">
            <a:solidFill>
              <a:srgbClr val="D1D1D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Tracker Redesign  ·  Concept 02  ·  Design Rationale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377440" cy="68580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⬡ Xbox Tracker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2377440" cy="402336"/>
          </a:xfrm>
          <a:prstGeom prst="rect">
            <a:avLst/>
          </a:prstGeom>
          <a:solidFill>
            <a:srgbClr val="2A3F6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68680"/>
            <a:ext cx="36576" cy="402336"/>
          </a:xfrm>
          <a:prstGeom prst="rect">
            <a:avLst/>
          </a:prstGeom>
          <a:solidFill>
            <a:srgbClr val="4B9EFF"/>
          </a:solidFill>
          <a:ln w="12700">
            <a:solidFill>
              <a:srgbClr val="4B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686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00" y="1371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8600" y="18745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8600" y="2377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Comparatore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" y="2880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Storico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7160" y="3429000"/>
            <a:ext cx="2103120" cy="0"/>
          </a:xfrm>
          <a:prstGeom prst="line">
            <a:avLst/>
          </a:prstGeom>
          <a:noFill/>
          <a:ln w="12700">
            <a:solidFill>
              <a:srgbClr val="253D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B7A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FILTRI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64592" y="3913632"/>
            <a:ext cx="182880" cy="182880"/>
          </a:xfrm>
          <a:prstGeom prst="rect">
            <a:avLst/>
          </a:prstGeom>
          <a:solidFill>
            <a:srgbClr val="4B9EFF"/>
          </a:solidFill>
          <a:ln w="12700">
            <a:solidFill>
              <a:srgbClr val="4B9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" y="3913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0624" y="385876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GameLife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4592" y="4288536"/>
            <a:ext cx="182880" cy="182880"/>
          </a:xfrm>
          <a:prstGeom prst="rect">
            <a:avLst/>
          </a:prstGeom>
          <a:solidFill>
            <a:srgbClr val="4B9EFF"/>
          </a:solidFill>
          <a:ln w="12700">
            <a:solidFill>
              <a:srgbClr val="4B9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" y="42885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423367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GameShock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64592" y="4663440"/>
            <a:ext cx="182880" cy="182880"/>
          </a:xfrm>
          <a:prstGeom prst="rect">
            <a:avLst/>
          </a:prstGeom>
          <a:solidFill>
            <a:srgbClr val="4B9EFF"/>
          </a:solidFill>
          <a:ln w="12700">
            <a:solidFill>
              <a:srgbClr val="4B9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46634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0624" y="460857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GamePeople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64592" y="5038344"/>
            <a:ext cx="182880" cy="182880"/>
          </a:xfrm>
          <a:prstGeom prst="rect">
            <a:avLst/>
          </a:prstGeom>
          <a:solidFill>
            <a:srgbClr val="4B9EFF"/>
          </a:solidFill>
          <a:ln w="12700">
            <a:solidFill>
              <a:srgbClr val="4B9E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50383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0624" y="498348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64592" y="5413248"/>
            <a:ext cx="182880" cy="182880"/>
          </a:xfrm>
          <a:prstGeom prst="rect">
            <a:avLst/>
          </a:prstGeom>
          <a:solidFill>
            <a:srgbClr val="4B9EFF"/>
          </a:solidFill>
          <a:ln w="12700">
            <a:solidFill>
              <a:srgbClr val="4B9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54132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0624" y="535838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CEX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37160" y="5925312"/>
            <a:ext cx="2103120" cy="0"/>
          </a:xfrm>
          <a:prstGeom prst="line">
            <a:avLst/>
          </a:prstGeom>
          <a:noFill/>
          <a:ln w="12700">
            <a:solidFill>
              <a:srgbClr val="253D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6016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B7A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PREZZO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64592" y="6336792"/>
            <a:ext cx="2048256" cy="54864"/>
          </a:xfrm>
          <a:prstGeom prst="rect">
            <a:avLst/>
          </a:prstGeom>
          <a:solidFill>
            <a:srgbClr val="253D5E"/>
          </a:solidFill>
          <a:ln w="12700">
            <a:solidFill>
              <a:srgbClr val="253D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6336792"/>
            <a:ext cx="1280160" cy="54864"/>
          </a:xfrm>
          <a:prstGeom prst="rect">
            <a:avLst/>
          </a:prstGeom>
          <a:solidFill>
            <a:srgbClr val="4B9EFF"/>
          </a:solidFill>
          <a:ln w="12700">
            <a:solidFill>
              <a:srgbClr val="4B9E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629107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9E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36776" y="629107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9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4592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€ 0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188720" y="65105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€ 500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377440" y="0"/>
            <a:ext cx="98115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— Tutti i Prodotti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15200" y="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 prodotti  |  189 disponibili  |  Aggiornato 16 Mar 2026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487168" y="713232"/>
            <a:ext cx="2194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487168" y="713232"/>
            <a:ext cx="36576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24328" y="731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€ 79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2624328" y="10972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Price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64608" y="713232"/>
            <a:ext cx="2194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64608" y="713232"/>
            <a:ext cx="36576" cy="685800"/>
          </a:xfrm>
          <a:prstGeom prst="rect">
            <a:avLst/>
          </a:prstGeom>
          <a:solidFill>
            <a:srgbClr val="4B9EFF"/>
          </a:solidFill>
          <a:ln w="12700">
            <a:solidFill>
              <a:srgbClr val="4B9E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01768" y="731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€ 142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5001768" y="10972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Used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242048" y="713232"/>
            <a:ext cx="2194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242048" y="713232"/>
            <a:ext cx="36576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79208" y="731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€ 289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7379208" y="10972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New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619488" y="713232"/>
            <a:ext cx="2194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9619488" y="713232"/>
            <a:ext cx="36576" cy="6858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56648" y="731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63%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9756648" y="10972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Rate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377440" y="1536192"/>
            <a:ext cx="9811512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77440" y="1536192"/>
            <a:ext cx="9811512" cy="347472"/>
          </a:xfrm>
          <a:prstGeom prst="rect">
            <a:avLst/>
          </a:prstGeom>
          <a:solidFill>
            <a:srgbClr val="F1F4F8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14600" y="15361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Prodotto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754880" y="15361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400800" y="15361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Condiz.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589520" y="15361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Prezzo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144000" y="15361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1064240" y="15361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Stato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778240" y="15361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377440" y="1883664"/>
            <a:ext cx="981151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514600" y="1938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Series X  Nuovo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754880" y="1993392"/>
            <a:ext cx="1234440" cy="219456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54880" y="19933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GameLife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400800" y="2002536"/>
            <a:ext cx="685800" cy="201168"/>
          </a:xfrm>
          <a:prstGeom prst="rect">
            <a:avLst/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0" y="200253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758952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€ 449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9144000" y="2249424"/>
            <a:ext cx="518160" cy="-256032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62160" y="1993392"/>
            <a:ext cx="518160" cy="209481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180320" y="2202873"/>
            <a:ext cx="518160" cy="46551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064240" y="2057400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1228832" y="199339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stock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2377440" y="2359152"/>
            <a:ext cx="9811512" cy="475488"/>
          </a:xfrm>
          <a:prstGeom prst="rect">
            <a:avLst/>
          </a:prstGeom>
          <a:solidFill>
            <a:srgbClr val="F8FAFB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514600" y="24140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Series X  Usato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754880" y="2468880"/>
            <a:ext cx="1234440" cy="219456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54880" y="246888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ReBuy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400800" y="2478024"/>
            <a:ext cx="68580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0800" y="247802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7589520" y="2395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€ 279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9144000" y="2468880"/>
            <a:ext cx="518160" cy="123886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662160" y="2592766"/>
            <a:ext cx="518160" cy="82591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180320" y="2675357"/>
            <a:ext cx="518160" cy="49555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064240" y="2532888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1228832" y="246888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stock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377440" y="2834640"/>
            <a:ext cx="981151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514600" y="28895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Series X  Usato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754880" y="2944368"/>
            <a:ext cx="1234440" cy="219456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754880" y="294436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GameShock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6400800" y="2953512"/>
            <a:ext cx="68580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400800" y="29535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7589520" y="28712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€ 299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9144000" y="2944368"/>
            <a:ext cx="518160" cy="256032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662160" y="3200400"/>
            <a:ext cx="518160" cy="0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180320" y="3200400"/>
            <a:ext cx="518160" cy="0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1064240" y="3008376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1228832" y="294436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stock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2377440" y="3310128"/>
            <a:ext cx="9811512" cy="475488"/>
          </a:xfrm>
          <a:prstGeom prst="rect">
            <a:avLst/>
          </a:prstGeom>
          <a:solidFill>
            <a:srgbClr val="F8FAFB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514600" y="3364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Series S  Nuovo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4754880" y="3419856"/>
            <a:ext cx="1234440" cy="219456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754880" y="341985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CEX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6400800" y="3429000"/>
            <a:ext cx="685800" cy="201168"/>
          </a:xfrm>
          <a:prstGeom prst="rect">
            <a:avLst/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400800" y="34290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7589520" y="33467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€ 239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9144000" y="3419856"/>
            <a:ext cx="518160" cy="128016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662160" y="3547872"/>
            <a:ext cx="518160" cy="128016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180320" y="3675888"/>
            <a:ext cx="518160" cy="0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1064240" y="3483864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1228832" y="341985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stock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2377440" y="3785616"/>
            <a:ext cx="981151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514600" y="3840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Series S  Nuovo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4754880" y="3895344"/>
            <a:ext cx="1234440" cy="219456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754880" y="389534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GamePeople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6400800" y="3904488"/>
            <a:ext cx="685800" cy="201168"/>
          </a:xfrm>
          <a:prstGeom prst="rect">
            <a:avLst/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400800" y="39044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7589520" y="38221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€ 259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9144000" y="3895344"/>
            <a:ext cx="518160" cy="0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662160" y="3895344"/>
            <a:ext cx="518160" cy="256032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180320" y="4151376"/>
            <a:ext cx="518160" cy="-256032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1064240" y="3959352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1228832" y="389534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Esaurito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2377440" y="4261104"/>
            <a:ext cx="9811512" cy="475488"/>
          </a:xfrm>
          <a:prstGeom prst="rect">
            <a:avLst/>
          </a:prstGeom>
          <a:solidFill>
            <a:srgbClr val="F8FAFB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514600" y="43159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One X  Usato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4754880" y="4370832"/>
            <a:ext cx="1234440" cy="219456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754880" y="437083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ReBuy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6400800" y="4379976"/>
            <a:ext cx="68580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400800" y="437997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758952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€ 159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9144000" y="4370832"/>
            <a:ext cx="518160" cy="121920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662160" y="4492752"/>
            <a:ext cx="518160" cy="97536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180320" y="4590288"/>
            <a:ext cx="518160" cy="36576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1064240" y="4434840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1228832" y="437083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stock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2377440" y="4736592"/>
            <a:ext cx="981151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514600" y="47914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One X  Usato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4754880" y="4846320"/>
            <a:ext cx="1234440" cy="219456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754880" y="48463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GameLife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6400800" y="4855464"/>
            <a:ext cx="68580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400800" y="485546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7589520" y="4773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€ 175</a:t>
            </a:r>
            <a:endParaRPr lang="en-US" sz="1200" dirty="0"/>
          </a:p>
        </p:txBody>
      </p:sp>
      <p:sp>
        <p:nvSpPr>
          <p:cNvPr id="144" name="Shape 142"/>
          <p:cNvSpPr/>
          <p:nvPr/>
        </p:nvSpPr>
        <p:spPr>
          <a:xfrm>
            <a:off x="9144000" y="4846320"/>
            <a:ext cx="518160" cy="0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662160" y="4846320"/>
            <a:ext cx="518160" cy="256032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0180320" y="5102352"/>
            <a:ext cx="518160" cy="-256032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1064240" y="4910328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1228832" y="484632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stock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2377440" y="5212080"/>
            <a:ext cx="9811512" cy="475488"/>
          </a:xfrm>
          <a:prstGeom prst="rect">
            <a:avLst/>
          </a:prstGeom>
          <a:solidFill>
            <a:srgbClr val="F8FAFB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514600" y="52669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One S  Usato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4754880" y="5321808"/>
            <a:ext cx="1234440" cy="219456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4754880" y="53218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CEX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6400800" y="5330952"/>
            <a:ext cx="68580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400800" y="5330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155" name="Text 153"/>
          <p:cNvSpPr/>
          <p:nvPr/>
        </p:nvSpPr>
        <p:spPr>
          <a:xfrm>
            <a:off x="7589520" y="52486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€ 99</a:t>
            </a:r>
            <a:endParaRPr lang="en-US" sz="1200" dirty="0"/>
          </a:p>
        </p:txBody>
      </p:sp>
      <p:sp>
        <p:nvSpPr>
          <p:cNvPr id="156" name="Shape 154"/>
          <p:cNvSpPr/>
          <p:nvPr/>
        </p:nvSpPr>
        <p:spPr>
          <a:xfrm>
            <a:off x="9144000" y="5321808"/>
            <a:ext cx="518160" cy="116378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662160" y="5438186"/>
            <a:ext cx="518160" cy="139654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0180320" y="5577840"/>
            <a:ext cx="518160" cy="0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1064240" y="5385816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1228832" y="532180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stock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2377440" y="5687568"/>
            <a:ext cx="981151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2514600" y="57424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360 Slim  Usato</a:t>
            </a:r>
            <a:endParaRPr lang="en-US" sz="850" dirty="0"/>
          </a:p>
        </p:txBody>
      </p:sp>
      <p:sp>
        <p:nvSpPr>
          <p:cNvPr id="163" name="Shape 161"/>
          <p:cNvSpPr/>
          <p:nvPr/>
        </p:nvSpPr>
        <p:spPr>
          <a:xfrm>
            <a:off x="4754880" y="5797296"/>
            <a:ext cx="1234440" cy="219456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4754880" y="579729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GameShock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6400800" y="5806440"/>
            <a:ext cx="685800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400800" y="58064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7589520" y="57241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€ 79</a:t>
            </a:r>
            <a:endParaRPr lang="en-US" sz="1200" dirty="0"/>
          </a:p>
        </p:txBody>
      </p:sp>
      <p:sp>
        <p:nvSpPr>
          <p:cNvPr id="168" name="Shape 166"/>
          <p:cNvSpPr/>
          <p:nvPr/>
        </p:nvSpPr>
        <p:spPr>
          <a:xfrm>
            <a:off x="9144000" y="5797296"/>
            <a:ext cx="518160" cy="102413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662160" y="5899709"/>
            <a:ext cx="518160" cy="76810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180320" y="5976518"/>
            <a:ext cx="518160" cy="76810"/>
          </a:xfrm>
          <a:prstGeom prst="line">
            <a:avLst/>
          </a:prstGeom>
          <a:noFill/>
          <a:ln w="19050">
            <a:solidFill>
              <a:srgbClr val="4B9E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064240" y="5861304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11228832" y="579729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Esaurito</a:t>
            </a:r>
            <a:endParaRPr lang="en-US" sz="750" dirty="0"/>
          </a:p>
        </p:txBody>
      </p:sp>
      <p:sp>
        <p:nvSpPr>
          <p:cNvPr id="173" name="Text 171"/>
          <p:cNvSpPr/>
          <p:nvPr/>
        </p:nvSpPr>
        <p:spPr>
          <a:xfrm>
            <a:off x="2514600" y="669340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3A — Dashboard Pro  |  Wireframe Mockup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417320"/>
          </a:xfrm>
          <a:prstGeom prst="rect">
            <a:avLst/>
          </a:prstGeom>
          <a:solidFill>
            <a:srgbClr val="4B9EFF"/>
          </a:solidFill>
          <a:ln w="12700">
            <a:solidFill>
              <a:srgbClr val="4B9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PRO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Data-Dense Professional — Linear × Notion × Stripe Dashboard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0" y="502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4B9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99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 PALETTE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2029968"/>
            <a:ext cx="77724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852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#1B2A4A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320040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Navy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252728" y="2029968"/>
            <a:ext cx="77724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2728" y="2852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#F8F9FA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252728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BG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185416" y="2029968"/>
            <a:ext cx="777240" cy="777240"/>
          </a:xfrm>
          <a:prstGeom prst="rect">
            <a:avLst/>
          </a:prstGeom>
          <a:solidFill>
            <a:srgbClr val="4B9E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2852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#4B9EFF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185416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Blue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118104" y="2029968"/>
            <a:ext cx="777240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18104" y="2852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#27AE60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118104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050792" y="2029968"/>
            <a:ext cx="777240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50792" y="2852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#E74C3C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050792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983480" y="2029968"/>
            <a:ext cx="777240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852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#F39C12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983480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2004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99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INTERACTION PATTERNS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749040"/>
            <a:ext cx="1737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749040"/>
            <a:ext cx="173736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749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9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⇅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11480" y="44074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Sortable Columns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4773168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column header to sort ascending/descending. Arrow indicator shows active sort.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40280" y="3749040"/>
            <a:ext cx="1737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40280" y="3749040"/>
            <a:ext cx="173736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40280" y="3749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9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◫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331720" y="44074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Sidebar Filters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31720" y="4773168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left panel for store selection, condition filter, price range slider.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60520" y="3749040"/>
            <a:ext cx="1737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160520" y="3749040"/>
            <a:ext cx="173736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3749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9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▲▼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251960" y="44074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Sparklines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51960" y="4773168"/>
            <a:ext cx="1554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trend lines per product show 30-day price history at a glance.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00800" y="1664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99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PRINCIPLES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0" y="202996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00800" y="2029968"/>
            <a:ext cx="2651760" cy="36576"/>
          </a:xfrm>
          <a:prstGeom prst="rect">
            <a:avLst/>
          </a:prstGeom>
          <a:solidFill>
            <a:srgbClr val="4B9EFF"/>
          </a:solidFill>
          <a:ln w="12700">
            <a:solidFill>
              <a:srgbClr val="4B9E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2157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First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37960" y="246888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stores unified in one sortable table. Users process 247 products in seconds, not 5 separate card views.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9235440" y="202996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235440" y="2029968"/>
            <a:ext cx="2651760" cy="36576"/>
          </a:xfrm>
          <a:prstGeom prst="rect">
            <a:avLst/>
          </a:prstGeom>
          <a:solidFill>
            <a:srgbClr val="4B9EFF"/>
          </a:solidFill>
          <a:ln w="12700">
            <a:solidFill>
              <a:srgbClr val="4B9E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72600" y="2157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Progressive Disclosure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372600" y="246888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reveals context on demand. Main table is always the hero. Filters collapse for max data density.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400800" y="349300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00800" y="3493008"/>
            <a:ext cx="2651760" cy="36576"/>
          </a:xfrm>
          <a:prstGeom prst="rect">
            <a:avLst/>
          </a:prstGeom>
          <a:solidFill>
            <a:srgbClr val="4B9EFF"/>
          </a:solidFill>
          <a:ln w="12700">
            <a:solidFill>
              <a:srgbClr val="4B9E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37960" y="3621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 Awareness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537960" y="393192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Sparklines show price history without a separate page. Dropping prices are highlighted automatically.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235440" y="349300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9235440" y="3493008"/>
            <a:ext cx="2651760" cy="36576"/>
          </a:xfrm>
          <a:prstGeom prst="rect">
            <a:avLst/>
          </a:prstGeom>
          <a:solidFill>
            <a:srgbClr val="4B9EFF"/>
          </a:solidFill>
          <a:ln w="12700">
            <a:solidFill>
              <a:srgbClr val="4B9E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72600" y="3621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User Mode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372600" y="393192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Keyboard-navigable table. Column hiding. CSV export. Built for users who check prices daily.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035040" y="1691640"/>
            <a:ext cx="0" cy="466344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Tracker Redesign  ·  Concept 03  ·  Design Rationale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Tracker  —  Compare First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566928"/>
            <a:ext cx="12188952" cy="475488"/>
          </a:xfrm>
          <a:prstGeom prst="rect">
            <a:avLst/>
          </a:prstGeom>
          <a:solidFill>
            <a:srgbClr val="FAF8F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658368"/>
            <a:ext cx="1261872" cy="274320"/>
          </a:xfrm>
          <a:prstGeom prst="rect">
            <a:avLst/>
          </a:prstGeom>
          <a:solidFill>
            <a:srgbClr val="1C1C1E"/>
          </a:solidFill>
          <a:ln w="12700">
            <a:solidFill>
              <a:srgbClr val="D4CF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Tutti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37360" y="658368"/>
            <a:ext cx="12618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6583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Series X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54680" y="658368"/>
            <a:ext cx="12618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6583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Series 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0" y="658368"/>
            <a:ext cx="12618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6583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89320" y="658368"/>
            <a:ext cx="12618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6583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06640" y="658368"/>
            <a:ext cx="12618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6583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058400" y="658368"/>
            <a:ext cx="1920240" cy="274320"/>
          </a:xfrm>
          <a:prstGeom prst="rect">
            <a:avLst/>
          </a:prstGeom>
          <a:solidFill>
            <a:srgbClr val="F0EDE0"/>
          </a:solidFill>
          <a:ln w="12700">
            <a:solidFill>
              <a:srgbClr val="D4CF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658368"/>
            <a:ext cx="960120" cy="27432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0" y="6583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Nuovo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018520" y="6583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Usato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1225296"/>
            <a:ext cx="2377440" cy="457200"/>
          </a:xfrm>
          <a:prstGeom prst="rect">
            <a:avLst/>
          </a:prstGeom>
          <a:solidFill>
            <a:srgbClr val="FFFDF7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2252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Prodotto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97480" y="1225296"/>
            <a:ext cx="1834286" cy="457200"/>
          </a:xfrm>
          <a:prstGeom prst="rect">
            <a:avLst/>
          </a:prstGeom>
          <a:solidFill>
            <a:srgbClr val="F5F2E8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1225296"/>
            <a:ext cx="1834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GameLife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31766" y="1225296"/>
            <a:ext cx="1834286" cy="457200"/>
          </a:xfrm>
          <a:prstGeom prst="rect">
            <a:avLst/>
          </a:prstGeom>
          <a:solidFill>
            <a:srgbClr val="F5F2E8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31766" y="1225296"/>
            <a:ext cx="1834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GameShock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66053" y="1225296"/>
            <a:ext cx="1834286" cy="457200"/>
          </a:xfrm>
          <a:prstGeom prst="rect">
            <a:avLst/>
          </a:prstGeom>
          <a:solidFill>
            <a:srgbClr val="F5F2E8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6053" y="1225296"/>
            <a:ext cx="1834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GamePeople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00339" y="1225296"/>
            <a:ext cx="1834286" cy="457200"/>
          </a:xfrm>
          <a:prstGeom prst="rect">
            <a:avLst/>
          </a:prstGeom>
          <a:solidFill>
            <a:srgbClr val="F5F2E8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00339" y="1225296"/>
            <a:ext cx="1834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034626" y="1225296"/>
            <a:ext cx="1834286" cy="457200"/>
          </a:xfrm>
          <a:prstGeom prst="rect">
            <a:avLst/>
          </a:prstGeom>
          <a:solidFill>
            <a:srgbClr val="F5F2E8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34626" y="1225296"/>
            <a:ext cx="1834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CEX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1682496"/>
            <a:ext cx="115488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A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1737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Series X  Nuovo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0" y="1737360"/>
            <a:ext cx="1742846" cy="548640"/>
          </a:xfrm>
          <a:prstGeom prst="rect">
            <a:avLst/>
          </a:prstGeom>
          <a:solidFill>
            <a:srgbClr val="E8F8F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0" y="1737360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€ 449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330598" y="1773936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7486" y="1737360"/>
            <a:ext cx="174284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7486" y="1737360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€ 459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11773" y="1737360"/>
            <a:ext cx="1742846" cy="548640"/>
          </a:xfrm>
          <a:prstGeom prst="rect">
            <a:avLst/>
          </a:prstGeom>
          <a:solidFill>
            <a:srgbClr val="FFF0EE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1773" y="1737360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€ 469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246059" y="1737360"/>
            <a:ext cx="1742846" cy="548640"/>
          </a:xfrm>
          <a:prstGeom prst="rect">
            <a:avLst/>
          </a:prstGeom>
          <a:solidFill>
            <a:srgbClr val="F0ECE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46059" y="1737360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10080346" y="1737360"/>
            <a:ext cx="1742846" cy="548640"/>
          </a:xfrm>
          <a:prstGeom prst="rect">
            <a:avLst/>
          </a:prstGeom>
          <a:solidFill>
            <a:srgbClr val="F0ECE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80346" y="1737360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20040" y="2340864"/>
            <a:ext cx="11548872" cy="658368"/>
          </a:xfrm>
          <a:prstGeom prst="rect">
            <a:avLst/>
          </a:prstGeom>
          <a:solidFill>
            <a:srgbClr val="FFFDF5"/>
          </a:solidFill>
          <a:ln w="12700">
            <a:solidFill>
              <a:srgbClr val="EEEA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23957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Series X  Usato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743200" y="2395728"/>
            <a:ext cx="1742846" cy="548640"/>
          </a:xfrm>
          <a:prstGeom prst="rect">
            <a:avLst/>
          </a:prstGeom>
          <a:solidFill>
            <a:srgbClr val="F0ECE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0" y="2395728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577486" y="2395728"/>
            <a:ext cx="1742846" cy="548640"/>
          </a:xfrm>
          <a:prstGeom prst="rect">
            <a:avLst/>
          </a:prstGeom>
          <a:solidFill>
            <a:srgbClr val="FFF0EE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7486" y="2395728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€ 299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411773" y="2395728"/>
            <a:ext cx="1742846" cy="548640"/>
          </a:xfrm>
          <a:prstGeom prst="rect">
            <a:avLst/>
          </a:prstGeom>
          <a:solidFill>
            <a:srgbClr val="F0ECE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11773" y="2395728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246059" y="2395728"/>
            <a:ext cx="1742846" cy="548640"/>
          </a:xfrm>
          <a:prstGeom prst="rect">
            <a:avLst/>
          </a:prstGeom>
          <a:solidFill>
            <a:srgbClr val="E8F8F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46059" y="2395728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€ 279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9833458" y="2432304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080346" y="2395728"/>
            <a:ext cx="174284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80346" y="2395728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€ 289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20040" y="2999232"/>
            <a:ext cx="115488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AD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30540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Series S  Nuovo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743200" y="3054096"/>
            <a:ext cx="174284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0" y="3054096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€ 249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4577486" y="3054096"/>
            <a:ext cx="1742846" cy="548640"/>
          </a:xfrm>
          <a:prstGeom prst="rect">
            <a:avLst/>
          </a:prstGeom>
          <a:solidFill>
            <a:srgbClr val="F0ECE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7486" y="3054096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411773" y="3054096"/>
            <a:ext cx="1742846" cy="548640"/>
          </a:xfrm>
          <a:prstGeom prst="rect">
            <a:avLst/>
          </a:prstGeom>
          <a:solidFill>
            <a:srgbClr val="FFF0EE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11773" y="3054096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€ 259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8246059" y="3054096"/>
            <a:ext cx="1742846" cy="548640"/>
          </a:xfrm>
          <a:prstGeom prst="rect">
            <a:avLst/>
          </a:prstGeom>
          <a:solidFill>
            <a:srgbClr val="F0ECE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46059" y="3054096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10080346" y="3054096"/>
            <a:ext cx="1742846" cy="548640"/>
          </a:xfrm>
          <a:prstGeom prst="rect">
            <a:avLst/>
          </a:prstGeom>
          <a:solidFill>
            <a:srgbClr val="E8F8F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080346" y="3054096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€ 239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11667744" y="3090672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0040" y="3657600"/>
            <a:ext cx="11548872" cy="658368"/>
          </a:xfrm>
          <a:prstGeom prst="rect">
            <a:avLst/>
          </a:prstGeom>
          <a:solidFill>
            <a:srgbClr val="FFFDF5"/>
          </a:solidFill>
          <a:ln w="12700">
            <a:solidFill>
              <a:srgbClr val="EEEAD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11480" y="37124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Series S  Usato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743200" y="3712464"/>
            <a:ext cx="1742846" cy="548640"/>
          </a:xfrm>
          <a:prstGeom prst="rect">
            <a:avLst/>
          </a:prstGeom>
          <a:solidFill>
            <a:srgbClr val="F0ECE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0" y="3712464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4577486" y="3712464"/>
            <a:ext cx="1742846" cy="548640"/>
          </a:xfrm>
          <a:prstGeom prst="rect">
            <a:avLst/>
          </a:prstGeom>
          <a:solidFill>
            <a:srgbClr val="FFF0EE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7486" y="3712464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€ 179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6411773" y="3712464"/>
            <a:ext cx="1742846" cy="548640"/>
          </a:xfrm>
          <a:prstGeom prst="rect">
            <a:avLst/>
          </a:prstGeom>
          <a:solidFill>
            <a:srgbClr val="F0ECE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11773" y="3712464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8246059" y="3712464"/>
            <a:ext cx="174284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246059" y="3712464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€ 169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10080346" y="3712464"/>
            <a:ext cx="1742846" cy="548640"/>
          </a:xfrm>
          <a:prstGeom prst="rect">
            <a:avLst/>
          </a:prstGeom>
          <a:solidFill>
            <a:srgbClr val="E8F8F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080346" y="3712464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€ 159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11667744" y="3749040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0040" y="4315968"/>
            <a:ext cx="115488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AD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1480" y="4370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One X  Nuovo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2743200" y="4370832"/>
            <a:ext cx="1742846" cy="548640"/>
          </a:xfrm>
          <a:prstGeom prst="rect">
            <a:avLst/>
          </a:prstGeom>
          <a:solidFill>
            <a:srgbClr val="F0ECE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743200" y="4370832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4577486" y="4370832"/>
            <a:ext cx="1742846" cy="548640"/>
          </a:xfrm>
          <a:prstGeom prst="rect">
            <a:avLst/>
          </a:prstGeom>
          <a:solidFill>
            <a:srgbClr val="F0ECE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77486" y="4370832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6411773" y="4370832"/>
            <a:ext cx="174284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411773" y="4370832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€ 229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8246059" y="4370832"/>
            <a:ext cx="1742846" cy="548640"/>
          </a:xfrm>
          <a:prstGeom prst="rect">
            <a:avLst/>
          </a:prstGeom>
          <a:solidFill>
            <a:srgbClr val="F0ECE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246059" y="4370832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10080346" y="4370832"/>
            <a:ext cx="1742846" cy="548640"/>
          </a:xfrm>
          <a:prstGeom prst="rect">
            <a:avLst/>
          </a:prstGeom>
          <a:solidFill>
            <a:srgbClr val="F0ECE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080346" y="4370832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320040" y="4974336"/>
            <a:ext cx="11548872" cy="658368"/>
          </a:xfrm>
          <a:prstGeom prst="rect">
            <a:avLst/>
          </a:prstGeom>
          <a:solidFill>
            <a:srgbClr val="FFFDF5"/>
          </a:solidFill>
          <a:ln w="12700">
            <a:solidFill>
              <a:srgbClr val="EEEAD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11480" y="5029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One X  Usato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2743200" y="5029200"/>
            <a:ext cx="174284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743200" y="5029200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€ 175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4577486" y="5029200"/>
            <a:ext cx="174284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577486" y="5029200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€ 169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6411773" y="5029200"/>
            <a:ext cx="1742846" cy="548640"/>
          </a:xfrm>
          <a:prstGeom prst="rect">
            <a:avLst/>
          </a:prstGeom>
          <a:solidFill>
            <a:srgbClr val="FFF0EE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411773" y="5029200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€ 189</a:t>
            </a:r>
            <a:endParaRPr lang="en-US" sz="1300" dirty="0"/>
          </a:p>
        </p:txBody>
      </p:sp>
      <p:sp>
        <p:nvSpPr>
          <p:cNvPr id="105" name="Shape 103"/>
          <p:cNvSpPr/>
          <p:nvPr/>
        </p:nvSpPr>
        <p:spPr>
          <a:xfrm>
            <a:off x="8246059" y="5029200"/>
            <a:ext cx="1742846" cy="548640"/>
          </a:xfrm>
          <a:prstGeom prst="rect">
            <a:avLst/>
          </a:prstGeom>
          <a:solidFill>
            <a:srgbClr val="E8F8F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246059" y="5029200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€ 159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9833458" y="5065776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080346" y="5029200"/>
            <a:ext cx="174284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0080346" y="5029200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€ 165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320040" y="5632704"/>
            <a:ext cx="115488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AD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11480" y="56875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One S  Usato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2743200" y="5687568"/>
            <a:ext cx="1742846" cy="548640"/>
          </a:xfrm>
          <a:prstGeom prst="rect">
            <a:avLst/>
          </a:prstGeom>
          <a:solidFill>
            <a:srgbClr val="F0ECE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743200" y="5687568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14" name="Shape 112"/>
          <p:cNvSpPr/>
          <p:nvPr/>
        </p:nvSpPr>
        <p:spPr>
          <a:xfrm>
            <a:off x="4577486" y="5687568"/>
            <a:ext cx="174284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577486" y="5687568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€ 89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6411773" y="5687568"/>
            <a:ext cx="1742846" cy="548640"/>
          </a:xfrm>
          <a:prstGeom prst="rect">
            <a:avLst/>
          </a:prstGeom>
          <a:solidFill>
            <a:srgbClr val="F0ECE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411773" y="5687568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18" name="Shape 116"/>
          <p:cNvSpPr/>
          <p:nvPr/>
        </p:nvSpPr>
        <p:spPr>
          <a:xfrm>
            <a:off x="8246059" y="5687568"/>
            <a:ext cx="1742846" cy="548640"/>
          </a:xfrm>
          <a:prstGeom prst="rect">
            <a:avLst/>
          </a:prstGeom>
          <a:solidFill>
            <a:srgbClr val="E8F8F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246059" y="5687568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€ 79</a:t>
            </a:r>
            <a:endParaRPr lang="en-US" sz="1300" dirty="0"/>
          </a:p>
        </p:txBody>
      </p:sp>
      <p:sp>
        <p:nvSpPr>
          <p:cNvPr id="120" name="Shape 118"/>
          <p:cNvSpPr/>
          <p:nvPr/>
        </p:nvSpPr>
        <p:spPr>
          <a:xfrm>
            <a:off x="9833458" y="5724144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080346" y="5687568"/>
            <a:ext cx="1742846" cy="548640"/>
          </a:xfrm>
          <a:prstGeom prst="rect">
            <a:avLst/>
          </a:prstGeom>
          <a:solidFill>
            <a:srgbClr val="FFF0EE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0080346" y="5687568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€ 99</a:t>
            </a:r>
            <a:endParaRPr lang="en-US" sz="1300" dirty="0"/>
          </a:p>
        </p:txBody>
      </p:sp>
      <p:sp>
        <p:nvSpPr>
          <p:cNvPr id="123" name="Shape 121"/>
          <p:cNvSpPr/>
          <p:nvPr/>
        </p:nvSpPr>
        <p:spPr>
          <a:xfrm>
            <a:off x="320040" y="6291072"/>
            <a:ext cx="11548872" cy="658368"/>
          </a:xfrm>
          <a:prstGeom prst="rect">
            <a:avLst/>
          </a:prstGeom>
          <a:solidFill>
            <a:srgbClr val="FFFDF5"/>
          </a:solidFill>
          <a:ln w="12700">
            <a:solidFill>
              <a:srgbClr val="EEEADE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11480" y="634593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360  Usato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2743200" y="6345936"/>
            <a:ext cx="1742846" cy="548640"/>
          </a:xfrm>
          <a:prstGeom prst="rect">
            <a:avLst/>
          </a:prstGeom>
          <a:solidFill>
            <a:srgbClr val="F0ECE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743200" y="6345936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27" name="Shape 125"/>
          <p:cNvSpPr/>
          <p:nvPr/>
        </p:nvSpPr>
        <p:spPr>
          <a:xfrm>
            <a:off x="4577486" y="6345936"/>
            <a:ext cx="1742846" cy="548640"/>
          </a:xfrm>
          <a:prstGeom prst="rect">
            <a:avLst/>
          </a:prstGeom>
          <a:solidFill>
            <a:srgbClr val="FFF0EE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577486" y="6345936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€ 79</a:t>
            </a:r>
            <a:endParaRPr lang="en-US" sz="1300" dirty="0"/>
          </a:p>
        </p:txBody>
      </p:sp>
      <p:sp>
        <p:nvSpPr>
          <p:cNvPr id="129" name="Shape 127"/>
          <p:cNvSpPr/>
          <p:nvPr/>
        </p:nvSpPr>
        <p:spPr>
          <a:xfrm>
            <a:off x="6411773" y="6345936"/>
            <a:ext cx="1742846" cy="548640"/>
          </a:xfrm>
          <a:prstGeom prst="rect">
            <a:avLst/>
          </a:prstGeom>
          <a:solidFill>
            <a:srgbClr val="F0ECE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411773" y="6345936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31" name="Shape 129"/>
          <p:cNvSpPr/>
          <p:nvPr/>
        </p:nvSpPr>
        <p:spPr>
          <a:xfrm>
            <a:off x="8246059" y="6345936"/>
            <a:ext cx="1742846" cy="548640"/>
          </a:xfrm>
          <a:prstGeom prst="rect">
            <a:avLst/>
          </a:prstGeom>
          <a:solidFill>
            <a:srgbClr val="F0ECE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246059" y="6345936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33" name="Shape 131"/>
          <p:cNvSpPr/>
          <p:nvPr/>
        </p:nvSpPr>
        <p:spPr>
          <a:xfrm>
            <a:off x="10080346" y="6345936"/>
            <a:ext cx="1742846" cy="548640"/>
          </a:xfrm>
          <a:prstGeom prst="rect">
            <a:avLst/>
          </a:prstGeom>
          <a:solidFill>
            <a:srgbClr val="E8F8F0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0080346" y="6345936"/>
            <a:ext cx="1742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€ 39</a:t>
            </a:r>
            <a:endParaRPr lang="en-US" sz="1300" dirty="0"/>
          </a:p>
        </p:txBody>
      </p:sp>
      <p:sp>
        <p:nvSpPr>
          <p:cNvPr id="135" name="Shape 133"/>
          <p:cNvSpPr/>
          <p:nvPr/>
        </p:nvSpPr>
        <p:spPr>
          <a:xfrm>
            <a:off x="11667744" y="6382512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20040" y="6510528"/>
            <a:ext cx="50292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57200" y="6556248"/>
            <a:ext cx="146304" cy="146304"/>
          </a:xfrm>
          <a:prstGeom prst="rect">
            <a:avLst/>
          </a:prstGeom>
          <a:solidFill>
            <a:srgbClr val="E8F8F0"/>
          </a:solidFill>
          <a:ln w="12700">
            <a:solidFill>
              <a:srgbClr val="D4CFC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40080" y="6547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minimo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2057400" y="6556248"/>
            <a:ext cx="146304" cy="146304"/>
          </a:xfrm>
          <a:prstGeom prst="rect">
            <a:avLst/>
          </a:prstGeom>
          <a:solidFill>
            <a:srgbClr val="FFF0EE"/>
          </a:solidFill>
          <a:ln w="12700">
            <a:solidFill>
              <a:srgbClr val="D4CFC2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240280" y="6547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massimo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3657600" y="6556248"/>
            <a:ext cx="146304" cy="146304"/>
          </a:xfrm>
          <a:prstGeom prst="rect">
            <a:avLst/>
          </a:prstGeom>
          <a:solidFill>
            <a:srgbClr val="F0ECE0"/>
          </a:solidFill>
          <a:ln w="12700">
            <a:solidFill>
              <a:srgbClr val="D4CFC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840480" y="6547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disponibile</a:t>
            </a:r>
            <a:endParaRPr lang="en-US" sz="750" dirty="0"/>
          </a:p>
        </p:txBody>
      </p:sp>
      <p:sp>
        <p:nvSpPr>
          <p:cNvPr id="143" name="Text 141"/>
          <p:cNvSpPr/>
          <p:nvPr/>
        </p:nvSpPr>
        <p:spPr>
          <a:xfrm>
            <a:off x="7772400" y="669340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4A — Compare First  |  Wireframe Mockup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 FIRST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Decision-Focused — Price Matrix as Default 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0" y="502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AAAA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8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 PALETTE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2029968"/>
            <a:ext cx="777240" cy="777240"/>
          </a:xfrm>
          <a:prstGeom prst="rect">
            <a:avLst/>
          </a:prstGeom>
          <a:solidFill>
            <a:srgbClr val="FFFDF7"/>
          </a:solidFill>
          <a:ln w="12700">
            <a:solidFill>
              <a:srgbClr val="D4CF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852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#FFFDF7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320040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White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252728" y="2029968"/>
            <a:ext cx="777240" cy="777240"/>
          </a:xfrm>
          <a:prstGeom prst="rect">
            <a:avLst/>
          </a:prstGeom>
          <a:solidFill>
            <a:srgbClr val="1C1C1E"/>
          </a:solidFill>
          <a:ln w="12700">
            <a:solidFill>
              <a:srgbClr val="D4CF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2728" y="2852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#1C1C1E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252728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185416" y="2029968"/>
            <a:ext cx="777240" cy="777240"/>
          </a:xfrm>
          <a:prstGeom prst="rect">
            <a:avLst/>
          </a:prstGeom>
          <a:solidFill>
            <a:srgbClr val="E8F8F0"/>
          </a:solidFill>
          <a:ln w="12700">
            <a:solidFill>
              <a:srgbClr val="D4CF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2852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#E8F8F0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185416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Price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118104" y="2029968"/>
            <a:ext cx="777240" cy="777240"/>
          </a:xfrm>
          <a:prstGeom prst="rect">
            <a:avLst/>
          </a:prstGeom>
          <a:solidFill>
            <a:srgbClr val="2ECC71"/>
          </a:solidFill>
          <a:ln w="12700">
            <a:solidFill>
              <a:srgbClr val="D4CF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18104" y="2852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#2ECC71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118104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Price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050792" y="2029968"/>
            <a:ext cx="777240" cy="777240"/>
          </a:xfrm>
          <a:prstGeom prst="rect">
            <a:avLst/>
          </a:prstGeom>
          <a:solidFill>
            <a:srgbClr val="FFF0EE"/>
          </a:solidFill>
          <a:ln w="12700">
            <a:solidFill>
              <a:srgbClr val="D4CF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50792" y="2852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#FFF0EE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050792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Price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983480" y="2029968"/>
            <a:ext cx="77724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D4CF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852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#C0392B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983480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2004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8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 LOGIC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749040"/>
            <a:ext cx="1325880" cy="640080"/>
          </a:xfrm>
          <a:prstGeom prst="rect">
            <a:avLst/>
          </a:prstGeom>
          <a:solidFill>
            <a:srgbClr val="E8F8F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7490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LOWEST PRICE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20040" y="4069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background + dot = best deal in row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783080" y="3749040"/>
            <a:ext cx="1325880" cy="640080"/>
          </a:xfrm>
          <a:prstGeom prst="rect">
            <a:avLst/>
          </a:prstGeom>
          <a:solidFill>
            <a:srgbClr val="FF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83080" y="37490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HIGHEST PRICE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783080" y="4069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tint = most expensive option, avoid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246120" y="3749040"/>
            <a:ext cx="1325880" cy="640080"/>
          </a:xfrm>
          <a:prstGeom prst="rect">
            <a:avLst/>
          </a:prstGeom>
          <a:solidFill>
            <a:srgbClr val="F0ECE0"/>
          </a:solidFill>
          <a:ln w="12700">
            <a:solidFill>
              <a:srgbClr val="D4CF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37490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UNAVAILABLE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246120" y="4069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= out of stock at this store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709160" y="3749040"/>
            <a:ext cx="1325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7490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09160" y="4069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= standard available price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3200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8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 RATIONALE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892040"/>
            <a:ext cx="55778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983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user's real question is always: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52578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"Where is the cheapest Xbox Series X right now?"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5705856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Compare First layout answers this in one glance — no navigation, no card-switching, no mental arithmetic. The matrix is the answer.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0" y="1664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8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PRINCIPLES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0" y="202996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0" y="3319272"/>
            <a:ext cx="2651760" cy="3657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2139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Cognitive Load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37960" y="245059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buy here. Red = skip. No arithmetic. No cross-referencing. Decision made in 2 seconds.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235440" y="202996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35440" y="3319272"/>
            <a:ext cx="2651760" cy="3657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72600" y="2139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 is Default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372600" y="245059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store-by-store browsing. The matrix is the homepage. Filter pills let users narrow by model.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00800" y="349300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00800" y="4782312"/>
            <a:ext cx="2651760" cy="3657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37960" y="36027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 Matrix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537960" y="391363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mobile, swipe horizontally through store columns. Product rows are the fixed anchor. Thumb-friendly.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235440" y="349300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35440" y="4782312"/>
            <a:ext cx="2651760" cy="3657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72600" y="36027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 Visual Tone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372600" y="391363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Off-white (#FFFDF7) creates warmth vs clinical white. Feels like a curated price guide, not a spreadsheet.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035040" y="1691640"/>
            <a:ext cx="0" cy="4663440"/>
          </a:xfrm>
          <a:prstGeom prst="line">
            <a:avLst/>
          </a:prstGeom>
          <a:noFill/>
          <a:ln w="12700">
            <a:solidFill>
              <a:srgbClr val="D4CFC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Tracker Redesign  ·  Concept 04  ·  Design Rationale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VITRINE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011680" y="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Price Tracker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0" y="91440"/>
            <a:ext cx="3657600" cy="402336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9144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Cerca prodotto…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1218895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685800"/>
            <a:ext cx="77724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685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Tutti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124712" y="685800"/>
            <a:ext cx="12984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6858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X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14600" y="685800"/>
            <a:ext cx="12984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6858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904488" y="685800"/>
            <a:ext cx="12984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04488" y="6858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One X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294376" y="685800"/>
            <a:ext cx="12984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94376" y="6858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One 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684264" y="685800"/>
            <a:ext cx="12984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84264" y="6858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360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074152" y="68580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74152" y="685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Nuovo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988552" y="68580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88552" y="685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Usato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0424160" y="685800"/>
            <a:ext cx="1508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0" y="6858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↑↓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6888" y="1207008"/>
            <a:ext cx="2743200" cy="2578608"/>
          </a:xfrm>
          <a:prstGeom prst="rect">
            <a:avLst/>
          </a:prstGeom>
          <a:solidFill>
            <a:srgbClr val="DDDDDD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6888" y="1207008"/>
            <a:ext cx="2743200" cy="1753453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98448" y="1435608"/>
            <a:ext cx="640080" cy="64008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98448" y="14356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38328" y="2212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X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" y="2686141"/>
            <a:ext cx="2743200" cy="274320"/>
          </a:xfrm>
          <a:prstGeom prst="rect">
            <a:avLst/>
          </a:prstGeom>
          <a:solidFill>
            <a:srgbClr val="CCCCCC">
              <a:alpha val="7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" y="2960461"/>
            <a:ext cx="2743200" cy="82515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6616" y="3051901"/>
            <a:ext cx="658368" cy="201168"/>
          </a:xfrm>
          <a:prstGeom prst="rect">
            <a:avLst/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" y="3051901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697480" y="3106765"/>
            <a:ext cx="91440" cy="9144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" y="3280501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€ 449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38328" y="3474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GameLife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18688" y="1207008"/>
            <a:ext cx="2743200" cy="2578608"/>
          </a:xfrm>
          <a:prstGeom prst="rect">
            <a:avLst/>
          </a:prstGeom>
          <a:solidFill>
            <a:srgbClr val="DDDDDD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18688" y="1207008"/>
            <a:ext cx="2743200" cy="1753453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70248" y="1435608"/>
            <a:ext cx="640080" cy="640080"/>
          </a:xfrm>
          <a:prstGeom prst="rect">
            <a:avLst/>
          </a:prstGeom>
          <a:solidFill>
            <a:srgbClr val="E84B1A"/>
          </a:solidFill>
          <a:ln w="12700">
            <a:solidFill>
              <a:srgbClr val="E84B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70248" y="14356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3310128" y="2212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X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18688" y="2686141"/>
            <a:ext cx="2743200" cy="274320"/>
          </a:xfrm>
          <a:prstGeom prst="rect">
            <a:avLst/>
          </a:prstGeom>
          <a:solidFill>
            <a:srgbClr val="CCCCCC">
              <a:alpha val="7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18688" y="2960461"/>
            <a:ext cx="2743200" cy="82515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28416" y="3051901"/>
            <a:ext cx="658368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28416" y="3051901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669280" y="3106765"/>
            <a:ext cx="91440" cy="9144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10128" y="3280501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€ 279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310128" y="3474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190488" y="1207008"/>
            <a:ext cx="2743200" cy="2578608"/>
          </a:xfrm>
          <a:prstGeom prst="rect">
            <a:avLst/>
          </a:prstGeom>
          <a:solidFill>
            <a:srgbClr val="DDDDDD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90488" y="1207008"/>
            <a:ext cx="2743200" cy="1753453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42048" y="1435608"/>
            <a:ext cx="640080" cy="640080"/>
          </a:xfrm>
          <a:prstGeom prst="rect">
            <a:avLst/>
          </a:prstGeom>
          <a:solidFill>
            <a:srgbClr val="52B2CF"/>
          </a:solidFill>
          <a:ln w="12700">
            <a:solidFill>
              <a:srgbClr val="52B2C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42048" y="14356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6281928" y="2212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90488" y="2686141"/>
            <a:ext cx="2743200" cy="274320"/>
          </a:xfrm>
          <a:prstGeom prst="rect">
            <a:avLst/>
          </a:prstGeom>
          <a:solidFill>
            <a:srgbClr val="CCCCCC">
              <a:alpha val="7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90488" y="2960461"/>
            <a:ext cx="2743200" cy="82515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00216" y="3051901"/>
            <a:ext cx="658368" cy="201168"/>
          </a:xfrm>
          <a:prstGeom prst="rect">
            <a:avLst/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0216" y="3051901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8641080" y="3106765"/>
            <a:ext cx="91440" cy="9144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81928" y="3280501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€ 239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6281928" y="3474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CEX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9162288" y="1207008"/>
            <a:ext cx="2743200" cy="2578608"/>
          </a:xfrm>
          <a:prstGeom prst="rect">
            <a:avLst/>
          </a:prstGeom>
          <a:solidFill>
            <a:srgbClr val="DDDDDD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9162288" y="1207008"/>
            <a:ext cx="2743200" cy="1753453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213848" y="1435608"/>
            <a:ext cx="640080" cy="640080"/>
          </a:xfrm>
          <a:prstGeom prst="rect">
            <a:avLst/>
          </a:prstGeom>
          <a:solidFill>
            <a:srgbClr val="6B8ACA"/>
          </a:solidFill>
          <a:ln w="12700">
            <a:solidFill>
              <a:srgbClr val="6B8AC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213848" y="14356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9253728" y="2212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Series 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162288" y="2686141"/>
            <a:ext cx="2743200" cy="274320"/>
          </a:xfrm>
          <a:prstGeom prst="rect">
            <a:avLst/>
          </a:prstGeom>
          <a:solidFill>
            <a:srgbClr val="CCCCCC">
              <a:alpha val="7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62288" y="2960461"/>
            <a:ext cx="2743200" cy="82515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272016" y="3051901"/>
            <a:ext cx="658368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72016" y="3051901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11612880" y="3106765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253728" y="3280501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€ 159</a:t>
            </a:r>
            <a:endParaRPr lang="en-US" sz="2000" dirty="0"/>
          </a:p>
        </p:txBody>
      </p:sp>
      <p:sp>
        <p:nvSpPr>
          <p:cNvPr id="73" name="Text 71"/>
          <p:cNvSpPr/>
          <p:nvPr/>
        </p:nvSpPr>
        <p:spPr>
          <a:xfrm>
            <a:off x="9253728" y="3474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GameShock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46888" y="3986784"/>
            <a:ext cx="2743200" cy="2578608"/>
          </a:xfrm>
          <a:prstGeom prst="rect">
            <a:avLst/>
          </a:prstGeom>
          <a:solidFill>
            <a:srgbClr val="DDDDDD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246888" y="3986784"/>
            <a:ext cx="2743200" cy="1753453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298448" y="4215384"/>
            <a:ext cx="640080" cy="640080"/>
          </a:xfrm>
          <a:prstGeom prst="rect">
            <a:avLst/>
          </a:prstGeom>
          <a:solidFill>
            <a:srgbClr val="8D5A97"/>
          </a:solidFill>
          <a:ln w="12700">
            <a:solidFill>
              <a:srgbClr val="8D5A9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298448" y="42153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2200" dirty="0"/>
          </a:p>
        </p:txBody>
      </p:sp>
      <p:sp>
        <p:nvSpPr>
          <p:cNvPr id="78" name="Text 76"/>
          <p:cNvSpPr/>
          <p:nvPr/>
        </p:nvSpPr>
        <p:spPr>
          <a:xfrm>
            <a:off x="338328" y="49926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One X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46888" y="5465917"/>
            <a:ext cx="2743200" cy="274320"/>
          </a:xfrm>
          <a:prstGeom prst="rect">
            <a:avLst/>
          </a:prstGeom>
          <a:solidFill>
            <a:srgbClr val="CCCCCC">
              <a:alpha val="7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46888" y="5740237"/>
            <a:ext cx="2743200" cy="82515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6616" y="5831677"/>
            <a:ext cx="658368" cy="201168"/>
          </a:xfrm>
          <a:prstGeom prst="rect">
            <a:avLst/>
          </a:prstGeom>
          <a:solidFill>
            <a:srgbClr val="E8F4FF"/>
          </a:solidFill>
          <a:ln w="12700">
            <a:solidFill>
              <a:srgbClr val="E8F4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56616" y="5831677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2697480" y="5886541"/>
            <a:ext cx="91440" cy="9144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38328" y="6060277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€ 229</a:t>
            </a:r>
            <a:endParaRPr lang="en-US" sz="2000" dirty="0"/>
          </a:p>
        </p:txBody>
      </p:sp>
      <p:sp>
        <p:nvSpPr>
          <p:cNvPr id="85" name="Text 83"/>
          <p:cNvSpPr/>
          <p:nvPr/>
        </p:nvSpPr>
        <p:spPr>
          <a:xfrm>
            <a:off x="338328" y="6254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GamePeople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218688" y="3986784"/>
            <a:ext cx="2743200" cy="2578608"/>
          </a:xfrm>
          <a:prstGeom prst="rect">
            <a:avLst/>
          </a:prstGeom>
          <a:solidFill>
            <a:srgbClr val="DDDDDD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3218688" y="3986784"/>
            <a:ext cx="2743200" cy="1753453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270248" y="4215384"/>
            <a:ext cx="640080" cy="640080"/>
          </a:xfrm>
          <a:prstGeom prst="rect">
            <a:avLst/>
          </a:prstGeom>
          <a:solidFill>
            <a:srgbClr val="E84B1A"/>
          </a:solidFill>
          <a:ln w="12700">
            <a:solidFill>
              <a:srgbClr val="E84B1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270248" y="42153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2200" dirty="0"/>
          </a:p>
        </p:txBody>
      </p:sp>
      <p:sp>
        <p:nvSpPr>
          <p:cNvPr id="90" name="Text 88"/>
          <p:cNvSpPr/>
          <p:nvPr/>
        </p:nvSpPr>
        <p:spPr>
          <a:xfrm>
            <a:off x="3310128" y="49926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One X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3218688" y="5465917"/>
            <a:ext cx="2743200" cy="274320"/>
          </a:xfrm>
          <a:prstGeom prst="rect">
            <a:avLst/>
          </a:prstGeom>
          <a:solidFill>
            <a:srgbClr val="CCCCCC">
              <a:alpha val="7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218688" y="5740237"/>
            <a:ext cx="2743200" cy="82515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28416" y="5831677"/>
            <a:ext cx="658368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328416" y="5831677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5669280" y="5886541"/>
            <a:ext cx="91440" cy="9144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310128" y="6060277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€ 159</a:t>
            </a:r>
            <a:endParaRPr lang="en-US" sz="2000" dirty="0"/>
          </a:p>
        </p:txBody>
      </p:sp>
      <p:sp>
        <p:nvSpPr>
          <p:cNvPr id="97" name="Text 95"/>
          <p:cNvSpPr/>
          <p:nvPr/>
        </p:nvSpPr>
        <p:spPr>
          <a:xfrm>
            <a:off x="3310128" y="6254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ReBuy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190488" y="3986784"/>
            <a:ext cx="2743200" cy="2578608"/>
          </a:xfrm>
          <a:prstGeom prst="rect">
            <a:avLst/>
          </a:prstGeom>
          <a:solidFill>
            <a:srgbClr val="DDDDDD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6190488" y="3986784"/>
            <a:ext cx="2743200" cy="1753453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242048" y="4215384"/>
            <a:ext cx="640080" cy="640080"/>
          </a:xfrm>
          <a:prstGeom prst="rect">
            <a:avLst/>
          </a:prstGeom>
          <a:solidFill>
            <a:srgbClr val="52B2CF"/>
          </a:solidFill>
          <a:ln w="12700">
            <a:solidFill>
              <a:srgbClr val="52B2C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242048" y="42153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2200" dirty="0"/>
          </a:p>
        </p:txBody>
      </p:sp>
      <p:sp>
        <p:nvSpPr>
          <p:cNvPr id="102" name="Text 100"/>
          <p:cNvSpPr/>
          <p:nvPr/>
        </p:nvSpPr>
        <p:spPr>
          <a:xfrm>
            <a:off x="6281928" y="49926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One S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6190488" y="5465917"/>
            <a:ext cx="2743200" cy="274320"/>
          </a:xfrm>
          <a:prstGeom prst="rect">
            <a:avLst/>
          </a:prstGeom>
          <a:solidFill>
            <a:srgbClr val="CCCCCC">
              <a:alpha val="7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190488" y="5740237"/>
            <a:ext cx="2743200" cy="82515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300216" y="5831677"/>
            <a:ext cx="658368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300216" y="5831677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8641080" y="5886541"/>
            <a:ext cx="91440" cy="9144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281928" y="6060277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€ 79</a:t>
            </a:r>
            <a:endParaRPr lang="en-US" sz="2000" dirty="0"/>
          </a:p>
        </p:txBody>
      </p:sp>
      <p:sp>
        <p:nvSpPr>
          <p:cNvPr id="109" name="Text 107"/>
          <p:cNvSpPr/>
          <p:nvPr/>
        </p:nvSpPr>
        <p:spPr>
          <a:xfrm>
            <a:off x="6281928" y="6254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CEX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9162288" y="3986784"/>
            <a:ext cx="2743200" cy="2578608"/>
          </a:xfrm>
          <a:prstGeom prst="rect">
            <a:avLst/>
          </a:prstGeom>
          <a:solidFill>
            <a:srgbClr val="DDDDDD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9162288" y="3986784"/>
            <a:ext cx="2743200" cy="1753453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213848" y="4215384"/>
            <a:ext cx="640080" cy="640080"/>
          </a:xfrm>
          <a:prstGeom prst="rect">
            <a:avLst/>
          </a:prstGeom>
          <a:solidFill>
            <a:srgbClr val="6B8ACA"/>
          </a:solidFill>
          <a:ln w="12700">
            <a:solidFill>
              <a:srgbClr val="6B8AC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213848" y="42153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2200" dirty="0"/>
          </a:p>
        </p:txBody>
      </p:sp>
      <p:sp>
        <p:nvSpPr>
          <p:cNvPr id="114" name="Text 112"/>
          <p:cNvSpPr/>
          <p:nvPr/>
        </p:nvSpPr>
        <p:spPr>
          <a:xfrm>
            <a:off x="9253728" y="49926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Xbox 360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9162288" y="5465917"/>
            <a:ext cx="2743200" cy="274320"/>
          </a:xfrm>
          <a:prstGeom prst="rect">
            <a:avLst/>
          </a:prstGeom>
          <a:solidFill>
            <a:srgbClr val="CCCCCC">
              <a:alpha val="7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162288" y="5740237"/>
            <a:ext cx="2743200" cy="82515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272016" y="5831677"/>
            <a:ext cx="658368" cy="2011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272016" y="5831677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11612880" y="5886541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253728" y="6060277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€ 39</a:t>
            </a:r>
            <a:endParaRPr lang="en-US" sz="2000" dirty="0"/>
          </a:p>
        </p:txBody>
      </p:sp>
      <p:sp>
        <p:nvSpPr>
          <p:cNvPr id="121" name="Text 119"/>
          <p:cNvSpPr/>
          <p:nvPr/>
        </p:nvSpPr>
        <p:spPr>
          <a:xfrm>
            <a:off x="9253728" y="6254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GameShock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274320" y="6720840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5A — Vitrine  |  Wireframe Mockup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88952" cy="45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VITRINE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Visual-First  ·  Apple Store × Airbnb Listing Style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0" y="502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AAAA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 PALETTE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2029968"/>
            <a:ext cx="77724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852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#F5F5F5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320040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252728" y="2029968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2728" y="2852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252728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Surface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185416" y="2029968"/>
            <a:ext cx="77724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5416" y="2852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#111111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185416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118104" y="2029968"/>
            <a:ext cx="777240" cy="777240"/>
          </a:xfrm>
          <a:prstGeom prst="rect">
            <a:avLst/>
          </a:prstGeom>
          <a:solidFill>
            <a:srgbClr val="88888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18104" y="2852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#888888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118104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Subtext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050792" y="2029968"/>
            <a:ext cx="777240" cy="777240"/>
          </a:xfrm>
          <a:prstGeom prst="rect">
            <a:avLst/>
          </a:prstGeom>
          <a:solidFill>
            <a:srgbClr val="107C1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50792" y="2852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#107C10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050792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Green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983480" y="2029968"/>
            <a:ext cx="777240" cy="777240"/>
          </a:xfrm>
          <a:prstGeom prst="rect">
            <a:avLst/>
          </a:prstGeom>
          <a:solidFill>
            <a:srgbClr val="34C75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852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#34C759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983480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2004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DIRECTION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749040"/>
            <a:ext cx="17830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749040"/>
            <a:ext cx="1783080" cy="73152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749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11480" y="45445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Product-Led Cards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4910328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is dominated by the product image. Xbox brand colors used as accent swatches to distinguish model lines.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286000" y="3749040"/>
            <a:ext cx="17830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0" y="3749040"/>
            <a:ext cx="1783080" cy="7315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3749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2377440" y="45445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Overlay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77440" y="4910328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displayed prominently at bottom of card on white info band. Not buried in a table — it demands attention.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251960" y="3749040"/>
            <a:ext cx="17830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51960" y="3749040"/>
            <a:ext cx="1783080" cy="73152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51960" y="3749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4343400" y="45445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Status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343400" y="4910328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colored dot in card corner. Green = in stock. Red = unavailable. No text label needed at card scale.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400800" y="1664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PRINCIPLES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0" y="202996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823960" y="2029968"/>
            <a:ext cx="228600" cy="13258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21396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as Hero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37960" y="2450592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buy consoles, not spreadsheets. Large images make the experience feel like shopping, not data mining.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9235440" y="202996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1658600" y="2029968"/>
            <a:ext cx="228600" cy="13258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72600" y="21396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Gallery Browsing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372600" y="2450592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Masonry/grid layout enables natural visual scanning. Users browse like Instagram, decide like a marketplace.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400800" y="349300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823960" y="3493008"/>
            <a:ext cx="228600" cy="13258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37960" y="36027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 Pill System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537960" y="3913632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condition filters as persistent pills at top. No dropdowns, no sidebars — fast, thumb-friendly.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235440" y="349300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1658600" y="3493008"/>
            <a:ext cx="228600" cy="13258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72600" y="36027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Alignment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372600" y="3913632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Apple Store product pages. Each Xbox model gets its own accent color. Premium feel = trusted feel.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035040" y="1691640"/>
            <a:ext cx="0" cy="46634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Tracker Redesign  ·  Concept 05  ·  Design Rationale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40080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Concepts  ·  10 Slides  ·  Apple-Level Design Quality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Xbox Tracker UI Redesign Concepts</dc:title>
  <dc:subject>PptxGenJS Presentation</dc:subject>
  <dc:creator>Product Design</dc:creator>
  <cp:lastModifiedBy>Product Design</cp:lastModifiedBy>
  <cp:revision>1</cp:revision>
  <dcterms:created xsi:type="dcterms:W3CDTF">2026-03-16T21:47:35Z</dcterms:created>
  <dcterms:modified xsi:type="dcterms:W3CDTF">2026-03-16T21:47:35Z</dcterms:modified>
</cp:coreProperties>
</file>